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24" r:id="rId3"/>
  </p:sldMasterIdLst>
  <p:notesMasterIdLst>
    <p:notesMasterId r:id="rId38"/>
  </p:notesMasterIdLst>
  <p:handoutMasterIdLst>
    <p:handoutMasterId r:id="rId39"/>
  </p:handoutMasterIdLst>
  <p:sldIdLst>
    <p:sldId id="416" r:id="rId4"/>
    <p:sldId id="417" r:id="rId5"/>
    <p:sldId id="447" r:id="rId6"/>
    <p:sldId id="263" r:id="rId7"/>
    <p:sldId id="2147483626" r:id="rId8"/>
    <p:sldId id="2147483632" r:id="rId9"/>
    <p:sldId id="443" r:id="rId10"/>
    <p:sldId id="2147483633" r:id="rId11"/>
    <p:sldId id="445" r:id="rId12"/>
    <p:sldId id="448" r:id="rId13"/>
    <p:sldId id="2147483628" r:id="rId14"/>
    <p:sldId id="2147483627" r:id="rId15"/>
    <p:sldId id="2147483634" r:id="rId16"/>
    <p:sldId id="442" r:id="rId17"/>
    <p:sldId id="2147483635" r:id="rId18"/>
    <p:sldId id="446" r:id="rId19"/>
    <p:sldId id="429" r:id="rId20"/>
    <p:sldId id="430" r:id="rId21"/>
    <p:sldId id="420" r:id="rId22"/>
    <p:sldId id="419" r:id="rId23"/>
    <p:sldId id="435" r:id="rId24"/>
    <p:sldId id="421" r:id="rId25"/>
    <p:sldId id="426" r:id="rId26"/>
    <p:sldId id="424" r:id="rId27"/>
    <p:sldId id="431" r:id="rId28"/>
    <p:sldId id="434" r:id="rId29"/>
    <p:sldId id="432" r:id="rId30"/>
    <p:sldId id="433" r:id="rId31"/>
    <p:sldId id="438" r:id="rId32"/>
    <p:sldId id="439" r:id="rId33"/>
    <p:sldId id="441" r:id="rId34"/>
    <p:sldId id="444" r:id="rId35"/>
    <p:sldId id="418" r:id="rId36"/>
    <p:sldId id="409" r:id="rId37"/>
  </p:sldIdLst>
  <p:sldSz cx="12192000" cy="6858000"/>
  <p:notesSz cx="6858000" cy="9144000"/>
  <p:defaultTextStyle>
    <a:defPPr>
      <a:defRPr lang="de-DE"/>
    </a:defPPr>
    <a:lvl1pPr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989646A-CFCD-4E8E-94FD-F0A286C07575}">
          <p14:sldIdLst>
            <p14:sldId id="416"/>
            <p14:sldId id="417"/>
          </p14:sldIdLst>
        </p14:section>
        <p14:section name="1 - Copilot getting started" id="{1544AAB7-22C5-4ADB-9EFE-13343251DA2E}">
          <p14:sldIdLst>
            <p14:sldId id="447"/>
            <p14:sldId id="263"/>
            <p14:sldId id="2147483626"/>
            <p14:sldId id="2147483632"/>
            <p14:sldId id="443"/>
            <p14:sldId id="2147483633"/>
            <p14:sldId id="445"/>
          </p14:sldIdLst>
        </p14:section>
        <p14:section name="2 - Copilot Agents" id="{686E0881-8CB2-48FA-AC7F-07EFDCB451F5}">
          <p14:sldIdLst>
            <p14:sldId id="448"/>
            <p14:sldId id="2147483628"/>
            <p14:sldId id="2147483627"/>
            <p14:sldId id="2147483634"/>
            <p14:sldId id="442"/>
            <p14:sldId id="2147483635"/>
            <p14:sldId id="446"/>
          </p14:sldIdLst>
        </p14:section>
        <p14:section name="3- ETD+Sentinel" id="{FDEC1A34-4753-47E4-9F08-BF820F84523F}">
          <p14:sldIdLst>
            <p14:sldId id="429"/>
            <p14:sldId id="430"/>
            <p14:sldId id="420"/>
            <p14:sldId id="419"/>
            <p14:sldId id="435"/>
            <p14:sldId id="421"/>
            <p14:sldId id="426"/>
            <p14:sldId id="424"/>
            <p14:sldId id="431"/>
            <p14:sldId id="434"/>
            <p14:sldId id="432"/>
            <p14:sldId id="433"/>
          </p14:sldIdLst>
        </p14:section>
        <p14:section name="4 - Secure SAP App" id="{F66A68E6-E20C-46BC-91DC-8814F2FB0918}">
          <p14:sldIdLst>
            <p14:sldId id="438"/>
            <p14:sldId id="439"/>
            <p14:sldId id="441"/>
          </p14:sldIdLst>
        </p14:section>
        <p14:section name="5 - SAP IDM to Entra ID migration" id="{985E32AB-5BB7-4C47-81EB-EB71452594F1}">
          <p14:sldIdLst>
            <p14:sldId id="444"/>
          </p14:sldIdLst>
        </p14:section>
        <p14:section name="Go go go" id="{1CFCC745-F74D-4ABA-A995-42DAACFA49F4}">
          <p14:sldIdLst>
            <p14:sldId id="418"/>
          </p14:sldIdLst>
        </p14:section>
        <p14:section name="Followup" id="{E228A65D-4B95-4FEE-9A69-F629087D1923}">
          <p14:sldIdLst>
            <p14:sldId id="409"/>
          </p14:sldIdLst>
        </p14:section>
        <p14:section name="drawings" id="{20372A3F-51AA-4749-8E2E-0F3DB53938C1}">
          <p14:sldIdLst/>
        </p14:section>
      </p14:sectionLst>
    </p:ext>
    <p:ext uri="{EFAFB233-063F-42B5-8137-9DF3F51BA10A}">
      <p15:sldGuideLst xmlns:p15="http://schemas.microsoft.com/office/powerpoint/2012/main">
        <p15:guide id="1" pos="6131" userDrawn="1">
          <p15:clr>
            <a:srgbClr val="A4A3A4"/>
          </p15:clr>
        </p15:guide>
        <p15:guide id="2" pos="393" userDrawn="1">
          <p15:clr>
            <a:srgbClr val="A4A3A4"/>
          </p15:clr>
        </p15:guide>
        <p15:guide id="3" orient="horz" pos="2092" userDrawn="1">
          <p15:clr>
            <a:srgbClr val="A4A3A4"/>
          </p15:clr>
        </p15:guide>
        <p15:guide id="4" orient="horz" pos="2976" userDrawn="1">
          <p15:clr>
            <a:srgbClr val="A4A3A4"/>
          </p15:clr>
        </p15:guide>
        <p15:guide id="5" orient="horz" pos="1593" userDrawn="1">
          <p15:clr>
            <a:srgbClr val="A4A3A4"/>
          </p15:clr>
        </p15:guide>
        <p15:guide id="6" orient="horz" pos="958" userDrawn="1">
          <p15:clr>
            <a:srgbClr val="A4A3A4"/>
          </p15:clr>
        </p15:guide>
        <p15:guide id="7" orient="horz" pos="2795" userDrawn="1">
          <p15:clr>
            <a:srgbClr val="A4A3A4"/>
          </p15:clr>
        </p15:guide>
        <p15:guide id="8" orient="horz" pos="3952" userDrawn="1">
          <p15:clr>
            <a:srgbClr val="A4A3A4"/>
          </p15:clr>
        </p15:guide>
        <p15:guide id="9" pos="2683" userDrawn="1">
          <p15:clr>
            <a:srgbClr val="A4A3A4"/>
          </p15:clr>
        </p15:guide>
        <p15:guide id="10" pos="3863" userDrawn="1">
          <p15:clr>
            <a:srgbClr val="A4A3A4"/>
          </p15:clr>
        </p15:guide>
        <p15:guide id="11" pos="529" userDrawn="1">
          <p15:clr>
            <a:srgbClr val="A4A3A4"/>
          </p15:clr>
        </p15:guide>
        <p15:guide id="12" pos="3069" userDrawn="1">
          <p15:clr>
            <a:srgbClr val="A4A3A4"/>
          </p15:clr>
        </p15:guide>
        <p15:guide id="13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iane Keller" initials="DK" lastIdx="36" clrIdx="0">
    <p:extLst>
      <p:ext uri="{19B8F6BF-5375-455C-9EA6-DF929625EA0E}">
        <p15:presenceInfo xmlns:p15="http://schemas.microsoft.com/office/powerpoint/2012/main" userId="S-1-5-21-318882301-789922187-912061101-1680" providerId="AD"/>
      </p:ext>
    </p:extLst>
  </p:cmAuthor>
  <p:cmAuthor id="2" name=" " initials="" lastIdx="5" clrIdx="1">
    <p:extLst>
      <p:ext uri="{19B8F6BF-5375-455C-9EA6-DF929625EA0E}">
        <p15:presenceInfo xmlns:p15="http://schemas.microsoft.com/office/powerpoint/2012/main" userId="824f54c6a1afb7f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485B"/>
    <a:srgbClr val="3376D3"/>
    <a:srgbClr val="000000"/>
    <a:srgbClr val="FFD270"/>
    <a:srgbClr val="EEAA9C"/>
    <a:srgbClr val="EE9E8E"/>
    <a:srgbClr val="B7E3C3"/>
    <a:srgbClr val="9EDAAE"/>
    <a:srgbClr val="85D199"/>
    <a:srgbClr val="4DC7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68" autoAdjust="0"/>
    <p:restoredTop sz="94614" autoAdjust="0"/>
  </p:normalViewPr>
  <p:slideViewPr>
    <p:cSldViewPr snapToGrid="0" showGuides="1">
      <p:cViewPr varScale="1">
        <p:scale>
          <a:sx n="96" d="100"/>
          <a:sy n="96" d="100"/>
        </p:scale>
        <p:origin x="1332" y="312"/>
      </p:cViewPr>
      <p:guideLst>
        <p:guide pos="6131"/>
        <p:guide pos="393"/>
        <p:guide orient="horz" pos="2092"/>
        <p:guide orient="horz" pos="2976"/>
        <p:guide orient="horz" pos="1593"/>
        <p:guide orient="horz" pos="958"/>
        <p:guide orient="horz" pos="2795"/>
        <p:guide orient="horz" pos="3952"/>
        <p:guide pos="2683"/>
        <p:guide pos="3863"/>
        <p:guide pos="529"/>
        <p:guide pos="3069"/>
        <p:guide orient="horz" pos="349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 showGuides="1">
      <p:cViewPr varScale="1">
        <p:scale>
          <a:sx n="54" d="100"/>
          <a:sy n="54" d="100"/>
        </p:scale>
        <p:origin x="2565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commentAuthors" Target="commentAuthors.xml"/><Relationship Id="rId45" Type="http://schemas.microsoft.com/office/2016/11/relationships/changesInfo" Target="changesInfos/changesInfo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theme" Target="theme/theme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notesMaster" Target="notesMasters/notesMaster1.xml"/><Relationship Id="rId20" Type="http://schemas.openxmlformats.org/officeDocument/2006/relationships/slide" Target="slides/slide17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af Müller" userId="927a0a94-5a13-40e6-9114-2c080cd475d5" providerId="ADAL" clId="{A20B25D3-EE74-401A-AD54-E02E91A2B3B5}"/>
    <pc:docChg chg="undo custSel modSld sldOrd">
      <pc:chgData name="Olaf Müller" userId="927a0a94-5a13-40e6-9114-2c080cd475d5" providerId="ADAL" clId="{A20B25D3-EE74-401A-AD54-E02E91A2B3B5}" dt="2023-11-30T11:36:40.777" v="38"/>
      <pc:docMkLst>
        <pc:docMk/>
      </pc:docMkLst>
      <pc:sldChg chg="ord">
        <pc:chgData name="Olaf Müller" userId="927a0a94-5a13-40e6-9114-2c080cd475d5" providerId="ADAL" clId="{A20B25D3-EE74-401A-AD54-E02E91A2B3B5}" dt="2023-11-30T11:36:40.777" v="38"/>
        <pc:sldMkLst>
          <pc:docMk/>
          <pc:sldMk cId="3366342496" sldId="404"/>
        </pc:sldMkLst>
      </pc:sldChg>
      <pc:sldChg chg="modSp mod">
        <pc:chgData name="Olaf Müller" userId="927a0a94-5a13-40e6-9114-2c080cd475d5" providerId="ADAL" clId="{A20B25D3-EE74-401A-AD54-E02E91A2B3B5}" dt="2023-11-06T08:07:03.131" v="36" actId="5793"/>
        <pc:sldMkLst>
          <pc:docMk/>
          <pc:sldMk cId="1250496623" sldId="406"/>
        </pc:sldMkLst>
        <pc:spChg chg="mod">
          <ac:chgData name="Olaf Müller" userId="927a0a94-5a13-40e6-9114-2c080cd475d5" providerId="ADAL" clId="{A20B25D3-EE74-401A-AD54-E02E91A2B3B5}" dt="2023-11-06T08:07:03.131" v="36" actId="5793"/>
          <ac:spMkLst>
            <pc:docMk/>
            <pc:sldMk cId="1250496623" sldId="406"/>
            <ac:spMk id="2" creationId="{964329A2-9282-F1FF-CC30-AAFB73028D39}"/>
          </ac:spMkLst>
        </pc:spChg>
      </pc:sldChg>
    </pc:docChg>
  </pc:docChgLst>
  <pc:docChgLst>
    <pc:chgData name="Svenja Linzmaier" userId="3db1d25d-8f37-4445-b432-ec4ca2896293" providerId="ADAL" clId="{D74043AE-C332-4115-B2B6-492B950C9739}"/>
    <pc:docChg chg="modSld">
      <pc:chgData name="Svenja Linzmaier" userId="3db1d25d-8f37-4445-b432-ec4ca2896293" providerId="ADAL" clId="{D74043AE-C332-4115-B2B6-492B950C9739}" dt="2023-11-15T12:53:21.987" v="3" actId="20577"/>
      <pc:docMkLst>
        <pc:docMk/>
      </pc:docMkLst>
      <pc:sldChg chg="modSp mod">
        <pc:chgData name="Svenja Linzmaier" userId="3db1d25d-8f37-4445-b432-ec4ca2896293" providerId="ADAL" clId="{D74043AE-C332-4115-B2B6-492B950C9739}" dt="2023-11-15T12:53:21.987" v="3" actId="20577"/>
        <pc:sldMkLst>
          <pc:docMk/>
          <pc:sldMk cId="318905515" sldId="408"/>
        </pc:sldMkLst>
        <pc:spChg chg="mod">
          <ac:chgData name="Svenja Linzmaier" userId="3db1d25d-8f37-4445-b432-ec4ca2896293" providerId="ADAL" clId="{D74043AE-C332-4115-B2B6-492B950C9739}" dt="2023-11-15T12:53:21.987" v="3" actId="20577"/>
          <ac:spMkLst>
            <pc:docMk/>
            <pc:sldMk cId="318905515" sldId="408"/>
            <ac:spMk id="4" creationId="{BCD4F90D-A3B7-117A-E918-45E8C360AE07}"/>
          </ac:spMkLst>
        </pc:spChg>
      </pc:sldChg>
    </pc:docChg>
  </pc:docChgLst>
  <pc:docChgLst>
    <pc:chgData name="Martin Pankraz" userId="d8ee58b4-901d-426e-8529-79fb13575fe0" providerId="ADAL" clId="{F71D78C7-DA10-40BF-BCF6-053553FE650B}"/>
    <pc:docChg chg="modSld">
      <pc:chgData name="Martin Pankraz" userId="d8ee58b4-901d-426e-8529-79fb13575fe0" providerId="ADAL" clId="{F71D78C7-DA10-40BF-BCF6-053553FE650B}" dt="2023-12-29T10:19:06.328" v="26" actId="20577"/>
      <pc:docMkLst>
        <pc:docMk/>
      </pc:docMkLst>
      <pc:sldChg chg="modSp mod">
        <pc:chgData name="Martin Pankraz" userId="d8ee58b4-901d-426e-8529-79fb13575fe0" providerId="ADAL" clId="{F71D78C7-DA10-40BF-BCF6-053553FE650B}" dt="2023-12-29T10:19:06.328" v="26" actId="20577"/>
        <pc:sldMkLst>
          <pc:docMk/>
          <pc:sldMk cId="174900445" sldId="405"/>
        </pc:sldMkLst>
        <pc:spChg chg="mod">
          <ac:chgData name="Martin Pankraz" userId="d8ee58b4-901d-426e-8529-79fb13575fe0" providerId="ADAL" clId="{F71D78C7-DA10-40BF-BCF6-053553FE650B}" dt="2023-12-29T10:19:06.328" v="26" actId="20577"/>
          <ac:spMkLst>
            <pc:docMk/>
            <pc:sldMk cId="174900445" sldId="405"/>
            <ac:spMk id="3" creationId="{3C70C7B8-8216-780F-09B7-566EB27AF592}"/>
          </ac:spMkLst>
        </pc:spChg>
        <pc:spChg chg="mod">
          <ac:chgData name="Martin Pankraz" userId="d8ee58b4-901d-426e-8529-79fb13575fe0" providerId="ADAL" clId="{F71D78C7-DA10-40BF-BCF6-053553FE650B}" dt="2023-12-29T10:18:30.599" v="1" actId="20577"/>
          <ac:spMkLst>
            <pc:docMk/>
            <pc:sldMk cId="174900445" sldId="405"/>
            <ac:spMk id="4" creationId="{41CCFCB1-7292-DE79-8813-3B9C4F92EC13}"/>
          </ac:spMkLst>
        </pc:spChg>
      </pc:sldChg>
    </pc:docChg>
  </pc:docChgLst>
  <pc:docChgLst>
    <pc:chgData name="Christina Jäger" userId="7b189369d28a17cb" providerId="LiveId" clId="{422DF695-4E9A-452B-BF07-6FA7C438FAB3}"/>
    <pc:docChg chg="undo custSel modSld modMainMaster">
      <pc:chgData name="Christina Jäger" userId="7b189369d28a17cb" providerId="LiveId" clId="{422DF695-4E9A-452B-BF07-6FA7C438FAB3}" dt="2023-11-02T18:59:45.221" v="27" actId="20577"/>
      <pc:docMkLst>
        <pc:docMk/>
      </pc:docMkLst>
      <pc:sldChg chg="modSp mod">
        <pc:chgData name="Christina Jäger" userId="7b189369d28a17cb" providerId="LiveId" clId="{422DF695-4E9A-452B-BF07-6FA7C438FAB3}" dt="2023-11-02T18:59:41.653" v="25" actId="20577"/>
        <pc:sldMkLst>
          <pc:docMk/>
          <pc:sldMk cId="1250496623" sldId="406"/>
        </pc:sldMkLst>
        <pc:spChg chg="mod">
          <ac:chgData name="Christina Jäger" userId="7b189369d28a17cb" providerId="LiveId" clId="{422DF695-4E9A-452B-BF07-6FA7C438FAB3}" dt="2023-11-02T18:59:41.653" v="25" actId="20577"/>
          <ac:spMkLst>
            <pc:docMk/>
            <pc:sldMk cId="1250496623" sldId="406"/>
            <ac:spMk id="2" creationId="{964329A2-9282-F1FF-CC30-AAFB73028D39}"/>
          </ac:spMkLst>
        </pc:spChg>
      </pc:sldChg>
      <pc:sldMasterChg chg="modSldLayout">
        <pc:chgData name="Christina Jäger" userId="7b189369d28a17cb" providerId="LiveId" clId="{422DF695-4E9A-452B-BF07-6FA7C438FAB3}" dt="2023-11-02T18:59:45.221" v="27" actId="20577"/>
        <pc:sldMasterMkLst>
          <pc:docMk/>
          <pc:sldMasterMk cId="1622492795" sldId="2147483660"/>
        </pc:sldMasterMkLst>
        <pc:sldLayoutChg chg="modSp mod">
          <pc:chgData name="Christina Jäger" userId="7b189369d28a17cb" providerId="LiveId" clId="{422DF695-4E9A-452B-BF07-6FA7C438FAB3}" dt="2023-11-02T18:59:45.221" v="27" actId="20577"/>
          <pc:sldLayoutMkLst>
            <pc:docMk/>
            <pc:sldMasterMk cId="1541424195" sldId="2147483724"/>
            <pc:sldLayoutMk cId="2967278011" sldId="2147483688"/>
          </pc:sldLayoutMkLst>
          <pc:spChg chg="mod">
            <ac:chgData name="Christina Jäger" userId="7b189369d28a17cb" providerId="LiveId" clId="{422DF695-4E9A-452B-BF07-6FA7C438FAB3}" dt="2023-11-02T18:59:45.221" v="27" actId="20577"/>
            <ac:spMkLst>
              <pc:docMk/>
              <pc:sldMasterMk cId="1541424195" sldId="2147483724"/>
              <pc:sldLayoutMk cId="2967278011" sldId="2147483688"/>
              <ac:spMk id="59" creationId="{00000000-0000-0000-0000-000000000000}"/>
            </ac:spMkLst>
          </pc:spChg>
        </pc:sldLayoutChg>
      </pc:sldMasterChg>
    </pc:docChg>
  </pc:docChgLst>
  <pc:docChgLst>
    <pc:chgData name="Martin Pankraz" userId="d8ee58b4-901d-426e-8529-79fb13575fe0" providerId="ADAL" clId="{88E4C814-2BCF-4731-B1DE-2E88E3B905A6}"/>
    <pc:docChg chg="modSld">
      <pc:chgData name="Martin Pankraz" userId="d8ee58b4-901d-426e-8529-79fb13575fe0" providerId="ADAL" clId="{88E4C814-2BCF-4731-B1DE-2E88E3B905A6}" dt="2023-12-06T15:05:56.480" v="75" actId="14100"/>
      <pc:docMkLst>
        <pc:docMk/>
      </pc:docMkLst>
      <pc:sldChg chg="addSp modSp mod">
        <pc:chgData name="Martin Pankraz" userId="d8ee58b4-901d-426e-8529-79fb13575fe0" providerId="ADAL" clId="{88E4C814-2BCF-4731-B1DE-2E88E3B905A6}" dt="2023-12-06T15:05:56.480" v="75" actId="14100"/>
        <pc:sldMkLst>
          <pc:docMk/>
          <pc:sldMk cId="174900445" sldId="405"/>
        </pc:sldMkLst>
        <pc:spChg chg="add mod">
          <ac:chgData name="Martin Pankraz" userId="d8ee58b4-901d-426e-8529-79fb13575fe0" providerId="ADAL" clId="{88E4C814-2BCF-4731-B1DE-2E88E3B905A6}" dt="2023-12-06T15:04:51.208" v="46" actId="14100"/>
          <ac:spMkLst>
            <pc:docMk/>
            <pc:sldMk cId="174900445" sldId="405"/>
            <ac:spMk id="2" creationId="{058BE6D0-A903-B19F-D6EE-90791BA73ED7}"/>
          </ac:spMkLst>
        </pc:spChg>
        <pc:spChg chg="add mod">
          <ac:chgData name="Martin Pankraz" userId="d8ee58b4-901d-426e-8529-79fb13575fe0" providerId="ADAL" clId="{88E4C814-2BCF-4731-B1DE-2E88E3B905A6}" dt="2023-12-06T15:04:58.522" v="57" actId="20577"/>
          <ac:spMkLst>
            <pc:docMk/>
            <pc:sldMk cId="174900445" sldId="405"/>
            <ac:spMk id="3" creationId="{3C70C7B8-8216-780F-09B7-566EB27AF592}"/>
          </ac:spMkLst>
        </pc:spChg>
        <pc:spChg chg="mod">
          <ac:chgData name="Martin Pankraz" userId="d8ee58b4-901d-426e-8529-79fb13575fe0" providerId="ADAL" clId="{88E4C814-2BCF-4731-B1DE-2E88E3B905A6}" dt="2023-12-06T15:05:38.008" v="58"/>
          <ac:spMkLst>
            <pc:docMk/>
            <pc:sldMk cId="174900445" sldId="405"/>
            <ac:spMk id="4" creationId="{41CCFCB1-7292-DE79-8813-3B9C4F92EC13}"/>
          </ac:spMkLst>
        </pc:spChg>
        <pc:spChg chg="mod">
          <ac:chgData name="Martin Pankraz" userId="d8ee58b4-901d-426e-8529-79fb13575fe0" providerId="ADAL" clId="{88E4C814-2BCF-4731-B1DE-2E88E3B905A6}" dt="2023-12-06T15:04:38.390" v="27" actId="14100"/>
          <ac:spMkLst>
            <pc:docMk/>
            <pc:sldMk cId="174900445" sldId="405"/>
            <ac:spMk id="5" creationId="{1A973BD8-0E66-27A6-93D9-4D9E6FEAB568}"/>
          </ac:spMkLst>
        </pc:spChg>
        <pc:spChg chg="mod">
          <ac:chgData name="Martin Pankraz" userId="d8ee58b4-901d-426e-8529-79fb13575fe0" providerId="ADAL" clId="{88E4C814-2BCF-4731-B1DE-2E88E3B905A6}" dt="2023-12-06T15:05:56.480" v="75" actId="14100"/>
          <ac:spMkLst>
            <pc:docMk/>
            <pc:sldMk cId="174900445" sldId="405"/>
            <ac:spMk id="6" creationId="{2644C748-BA62-957D-E50E-D2DAD4B1A7C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55AB06-B6BB-4ACB-8A64-E8D2F22F93F5}" type="datetimeFigureOut">
              <a:rPr lang="de-DE" smtClean="0"/>
              <a:t>10.12.2025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69C2F7-4DE5-4587-8FC7-7A9FE8E2ABA7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997358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176CC4-DEFB-4F3C-A967-A5DAB45FF068}" type="datetimeFigureOut">
              <a:rPr lang="de-DE" smtClean="0"/>
              <a:t>10.12.2025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715FFD-0145-4494-A555-FB11F75277F5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462563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elfoli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 descr="Ein Bild, das lila, violett, Farbigkeit, Magenta enthält.&#10;&#10;Automatisch generierte Beschreibung">
            <a:extLst>
              <a:ext uri="{FF2B5EF4-FFF2-40B4-BE49-F238E27FC236}">
                <a16:creationId xmlns:a16="http://schemas.microsoft.com/office/drawing/2014/main" id="{66F19046-249B-EF1A-3DDA-705A8BBEC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" y="0"/>
            <a:ext cx="12191029" cy="6858000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CD3BC99-1501-9A6E-EA25-76924A43CB48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15079" y="1208309"/>
            <a:ext cx="6212340" cy="32578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3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Referentenname</a:t>
            </a:r>
          </a:p>
          <a:p>
            <a:pPr lvl="0"/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FE4D742-4AC2-9F56-6B2A-EAFD950DDCA0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08833" y="151100"/>
            <a:ext cx="11142243" cy="1007559"/>
          </a:xfrm>
          <a:prstGeom prst="rect">
            <a:avLst/>
          </a:prstGeom>
          <a:noFill/>
          <a:effectLst>
            <a:softEdge rad="317500"/>
          </a:effectLst>
        </p:spPr>
        <p:txBody>
          <a:bodyPr anchor="ctr" anchorCtr="0"/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Präsentationstitel eingeben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59D2F814-9087-CD61-B36A-B95223C007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6010" y="1565943"/>
            <a:ext cx="6211409" cy="32578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3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Firma</a:t>
            </a:r>
          </a:p>
          <a:p>
            <a:pPr lvl="0"/>
            <a:endParaRPr lang="de-DE" dirty="0"/>
          </a:p>
        </p:txBody>
      </p: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C4034C1-35C7-466D-D62B-F7B70733EE48}"/>
              </a:ext>
            </a:extLst>
          </p:cNvPr>
          <p:cNvGrpSpPr/>
          <p:nvPr userDrawn="1"/>
        </p:nvGrpSpPr>
        <p:grpSpPr>
          <a:xfrm>
            <a:off x="9496961" y="4164637"/>
            <a:ext cx="2395002" cy="2395002"/>
            <a:chOff x="9221273" y="3888949"/>
            <a:chExt cx="2670690" cy="267069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226B0B39-3AD2-6FDE-E097-22CEBC60B544}"/>
                </a:ext>
              </a:extLst>
            </p:cNvPr>
            <p:cNvSpPr/>
            <p:nvPr userDrawn="1"/>
          </p:nvSpPr>
          <p:spPr>
            <a:xfrm>
              <a:off x="9221273" y="3888949"/>
              <a:ext cx="2670690" cy="2670690"/>
            </a:xfrm>
            <a:prstGeom prst="rect">
              <a:avLst/>
            </a:prstGeom>
            <a:solidFill>
              <a:schemeClr val="accent3"/>
            </a:solidFill>
            <a:ln w="9525">
              <a:noFill/>
            </a:ln>
            <a:effectLst>
              <a:outerShdw blurRad="127000" sx="102000" sy="102000" algn="ctr" rotWithShape="0">
                <a:schemeClr val="accent6">
                  <a:alpha val="2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F1CEC11C-6A23-0979-C4EB-5396D6FE9B6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68461" y="4105346"/>
              <a:ext cx="606188" cy="60618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53B5ECAC-CDB5-EF24-C419-1CE2FD6C9BF2}"/>
              </a:ext>
            </a:extLst>
          </p:cNvPr>
          <p:cNvSpPr txBox="1"/>
          <p:nvPr userDrawn="1"/>
        </p:nvSpPr>
        <p:spPr>
          <a:xfrm>
            <a:off x="9555687" y="5096368"/>
            <a:ext cx="2222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dirty="0">
                <a:solidFill>
                  <a:schemeClr val="bg1"/>
                </a:solidFill>
              </a:rPr>
              <a:t>DSAG-</a:t>
            </a:r>
            <a:r>
              <a:rPr lang="de-DE" dirty="0" err="1">
                <a:solidFill>
                  <a:schemeClr val="bg1"/>
                </a:solidFill>
              </a:rPr>
              <a:t>TechXchange</a:t>
            </a:r>
            <a:endParaRPr lang="de-DE" dirty="0">
              <a:solidFill>
                <a:schemeClr val="bg1"/>
              </a:solidFill>
            </a:endParaRPr>
          </a:p>
          <a:p>
            <a:pPr algn="l"/>
            <a:r>
              <a:rPr lang="de-DE" b="0" dirty="0">
                <a:solidFill>
                  <a:schemeClr val="bg1"/>
                </a:solidFill>
              </a:rPr>
              <a:t>2025</a:t>
            </a:r>
            <a:endParaRPr lang="en-DE" b="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57B9A9-6939-E494-6C46-B0578ABD00FC}"/>
              </a:ext>
            </a:extLst>
          </p:cNvPr>
          <p:cNvSpPr txBox="1"/>
          <p:nvPr userDrawn="1"/>
        </p:nvSpPr>
        <p:spPr>
          <a:xfrm>
            <a:off x="9555687" y="5800868"/>
            <a:ext cx="233627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dirty="0">
                <a:solidFill>
                  <a:schemeClr val="bg1"/>
                </a:solidFill>
              </a:rPr>
              <a:t>4th </a:t>
            </a:r>
            <a:r>
              <a:rPr lang="de-DE" dirty="0" err="1">
                <a:solidFill>
                  <a:schemeClr val="bg1"/>
                </a:solidFill>
              </a:rPr>
              <a:t>of</a:t>
            </a:r>
            <a:r>
              <a:rPr lang="de-DE" dirty="0">
                <a:solidFill>
                  <a:schemeClr val="bg1"/>
                </a:solidFill>
              </a:rPr>
              <a:t> April</a:t>
            </a:r>
          </a:p>
          <a:p>
            <a:pPr algn="l"/>
            <a:r>
              <a:rPr lang="de-DE" sz="1400" b="0" dirty="0">
                <a:solidFill>
                  <a:schemeClr val="bg1"/>
                </a:solidFill>
              </a:rPr>
              <a:t>RheinMain </a:t>
            </a:r>
            <a:r>
              <a:rPr lang="de-DE" sz="1400" b="0" dirty="0" err="1">
                <a:solidFill>
                  <a:schemeClr val="bg1"/>
                </a:solidFill>
              </a:rPr>
              <a:t>Congress</a:t>
            </a:r>
            <a:r>
              <a:rPr lang="de-DE" sz="1400" b="0" dirty="0">
                <a:solidFill>
                  <a:schemeClr val="bg1"/>
                </a:solidFill>
              </a:rPr>
              <a:t> Center, Wiesbaden</a:t>
            </a:r>
            <a:endParaRPr lang="en-DE" sz="14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9237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>
          <p15:clr>
            <a:srgbClr val="FBAE40"/>
          </p15:clr>
        </p15:guide>
        <p15:guide id="5" orient="horz" pos="4133">
          <p15:clr>
            <a:srgbClr val="FBAE40"/>
          </p15:clr>
        </p15:guide>
        <p15:guide id="6" orient="horz" pos="2976">
          <p15:clr>
            <a:srgbClr val="FBAE40"/>
          </p15:clr>
        </p15:guide>
        <p15:guide id="7" pos="3840">
          <p15:clr>
            <a:srgbClr val="FBAE40"/>
          </p15:clr>
        </p15:guide>
        <p15:guide id="17" orient="horz" pos="777">
          <p15:clr>
            <a:srgbClr val="FBAE40"/>
          </p15:clr>
        </p15:guide>
        <p15:guide id="18" orient="horz" pos="3566">
          <p15:clr>
            <a:srgbClr val="FBAE40"/>
          </p15:clr>
        </p15:guide>
        <p15:guide id="20" orient="horz" pos="2160">
          <p15:clr>
            <a:srgbClr val="FBAE40"/>
          </p15:clr>
        </p15:guide>
        <p15:guide id="21" pos="393">
          <p15:clr>
            <a:srgbClr val="FBAE40"/>
          </p15:clr>
        </p15:guide>
        <p15:guide id="22" orient="horz" pos="2260">
          <p15:clr>
            <a:srgbClr val="FBAE40"/>
          </p15:clr>
        </p15:guide>
        <p15:guide id="23" orient="horz" pos="686">
          <p15:clr>
            <a:srgbClr val="FBAE40"/>
          </p15:clr>
        </p15:guide>
        <p15:guide id="24" pos="735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verzeichn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Blau, lila, Farbigkeit, Majorelle Blue enthält.&#10;&#10;Automatisch generierte Beschreibung">
            <a:extLst>
              <a:ext uri="{FF2B5EF4-FFF2-40B4-BE49-F238E27FC236}">
                <a16:creationId xmlns:a16="http://schemas.microsoft.com/office/drawing/2014/main" id="{B5F771AC-2A63-986B-2B5A-C3730D8B33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72" r="163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FB4F0257-AE55-0D86-3195-883F1BEEC5E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15939" y="152400"/>
            <a:ext cx="7527924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Inhaltsverzeichnis</a:t>
            </a:r>
          </a:p>
        </p:txBody>
      </p:sp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D0843323-B0B3-DE77-003D-7A80E68698FB}"/>
              </a:ext>
            </a:extLst>
          </p:cNvPr>
          <p:cNvSpPr txBox="1">
            <a:spLocks/>
          </p:cNvSpPr>
          <p:nvPr userDrawn="1"/>
        </p:nvSpPr>
        <p:spPr>
          <a:xfrm>
            <a:off x="423974" y="6430711"/>
            <a:ext cx="3335217" cy="3903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ct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900" b="0" i="0" dirty="0">
                <a:solidFill>
                  <a:schemeClr val="bg1"/>
                </a:solidFill>
                <a:latin typeface="+mn-lt"/>
                <a:cs typeface="Helvetica Light"/>
              </a:rPr>
              <a:t>© DSAG | Seite </a:t>
            </a:r>
            <a:fld id="{DA91E406-5084-3248-8911-C7B8CABF8078}" type="slidenum">
              <a:rPr lang="de-DE" sz="900" b="0" i="0" dirty="0">
                <a:solidFill>
                  <a:schemeClr val="bg1"/>
                </a:solidFill>
                <a:latin typeface="+mn-lt"/>
                <a:cs typeface="Helvetica Light"/>
              </a:rPr>
              <a:pPr algn="l"/>
              <a:t>‹#›</a:t>
            </a:fld>
            <a:r>
              <a:rPr lang="de-DE" sz="900" b="0" i="0" dirty="0">
                <a:solidFill>
                  <a:schemeClr val="bg1"/>
                </a:solidFill>
                <a:latin typeface="+mn-lt"/>
                <a:cs typeface="Helvetica Light"/>
              </a:rPr>
              <a:t> | </a:t>
            </a:r>
            <a:fld id="{F7A57CAC-9BE6-984A-ACA0-6397C7AD78FB}" type="datetime4">
              <a:rPr lang="de-DE" sz="900" b="0" i="0" smtClean="0">
                <a:solidFill>
                  <a:schemeClr val="bg1"/>
                </a:solidFill>
                <a:latin typeface="+mn-lt"/>
                <a:cs typeface="Helvetica Light"/>
              </a:rPr>
              <a:pPr algn="l"/>
              <a:t>10. Dezember 2025</a:t>
            </a:fld>
            <a:endParaRPr lang="de-DE" sz="900" b="0" i="0" dirty="0">
              <a:solidFill>
                <a:schemeClr val="bg1"/>
              </a:solidFill>
              <a:latin typeface="+mn-lt"/>
              <a:cs typeface="Helvetica Light"/>
            </a:endParaRPr>
          </a:p>
        </p:txBody>
      </p:sp>
      <p:sp>
        <p:nvSpPr>
          <p:cNvPr id="59" name="Textplatzhalter 2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31838" y="1514466"/>
            <a:ext cx="7312025" cy="4654550"/>
          </a:xfrm>
          <a:prstGeom prst="rect">
            <a:avLst/>
          </a:prstGeom>
        </p:spPr>
        <p:txBody>
          <a:bodyPr/>
          <a:lstStyle>
            <a:lvl1pPr marL="457200" marR="0" indent="-457200" algn="l" defTabSz="916494" rtl="0" eaLnBrk="1" fontAlgn="base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bg1"/>
              </a:buClr>
              <a:buSzTx/>
              <a:buFont typeface="+mj-lt"/>
              <a:buAutoNum type="arabicPeriod"/>
              <a:tabLst/>
              <a:defRPr sz="2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Symbol" panose="05050102010706020507" pitchFamily="18" charset="2"/>
              <a:buNone/>
              <a:defRPr/>
            </a:lvl2pPr>
            <a:lvl3pPr marL="914377" indent="0">
              <a:buFont typeface="Symbol" panose="05050102010706020507" pitchFamily="18" charset="2"/>
              <a:buNone/>
              <a:defRPr/>
            </a:lvl3pPr>
            <a:lvl4pPr marL="1371566" indent="0">
              <a:buFont typeface="Symbol" panose="05050102010706020507" pitchFamily="18" charset="2"/>
              <a:buNone/>
              <a:defRPr/>
            </a:lvl4pPr>
          </a:lstStyle>
          <a:p>
            <a:pPr lvl="0"/>
            <a:r>
              <a:rPr lang="de-DE" dirty="0"/>
              <a:t>Thema, Arial, 22 </a:t>
            </a:r>
            <a:r>
              <a:rPr lang="de-DE" dirty="0" err="1"/>
              <a:t>pt</a:t>
            </a:r>
            <a:endParaRPr lang="de-DE" dirty="0"/>
          </a:p>
          <a:p>
            <a:pPr lvl="0"/>
            <a:r>
              <a:rPr lang="de-DE" dirty="0"/>
              <a:t>Thema, Arial, 22 </a:t>
            </a:r>
            <a:r>
              <a:rPr lang="de-DE" dirty="0" err="1"/>
              <a:t>pt</a:t>
            </a:r>
            <a:endParaRPr lang="de-DE" dirty="0"/>
          </a:p>
          <a:p>
            <a:pPr lvl="0"/>
            <a:r>
              <a:rPr lang="de-DE" dirty="0"/>
              <a:t>Thema, Arial, 22 </a:t>
            </a:r>
            <a:r>
              <a:rPr lang="de-DE" dirty="0" err="1"/>
              <a:t>pt</a:t>
            </a:r>
            <a:endParaRPr lang="de-DE" dirty="0"/>
          </a:p>
          <a:p>
            <a:pPr marL="457200" marR="0" lvl="0" indent="-457200" algn="l" defTabSz="916494" rtl="0" eaLnBrk="1" fontAlgn="base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bg1"/>
              </a:buClr>
              <a:buSzTx/>
              <a:buFont typeface="+mj-lt"/>
              <a:buAutoNum type="arabicPeriod"/>
              <a:tabLst/>
              <a:defRPr/>
            </a:pPr>
            <a:r>
              <a:rPr lang="de-DE" dirty="0"/>
              <a:t>Thema, Arial, 22 </a:t>
            </a:r>
            <a:r>
              <a:rPr lang="de-DE" dirty="0" err="1"/>
              <a:t>pt</a:t>
            </a:r>
            <a:endParaRPr lang="de-DE" dirty="0"/>
          </a:p>
          <a:p>
            <a:pPr marL="457200" marR="0" lvl="0" indent="-457200" algn="l" defTabSz="916494" rtl="0" eaLnBrk="1" fontAlgn="base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bg1"/>
              </a:buClr>
              <a:buSzTx/>
              <a:buFont typeface="+mj-lt"/>
              <a:buAutoNum type="arabicPeriod"/>
              <a:tabLst/>
              <a:defRPr/>
            </a:pPr>
            <a:r>
              <a:rPr lang="de-DE" dirty="0"/>
              <a:t>Thema, Arial, 22 </a:t>
            </a:r>
            <a:r>
              <a:rPr lang="de-DE" dirty="0" err="1"/>
              <a:t>pt</a:t>
            </a:r>
            <a:endParaRPr lang="de-DE" dirty="0"/>
          </a:p>
          <a:p>
            <a:pPr marL="457200" marR="0" lvl="0" indent="-457200" algn="l" defTabSz="916494" rtl="0" eaLnBrk="1" fontAlgn="base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bg1"/>
              </a:buClr>
              <a:buSzTx/>
              <a:buFont typeface="+mj-lt"/>
              <a:buAutoNum type="arabicPeriod"/>
              <a:tabLst/>
              <a:defRPr/>
            </a:pPr>
            <a:r>
              <a:rPr lang="de-DE" dirty="0"/>
              <a:t>Thema, Arial, 22 </a:t>
            </a:r>
            <a:r>
              <a:rPr lang="de-DE" dirty="0" err="1"/>
              <a:t>pt</a:t>
            </a:r>
            <a:endParaRPr lang="de-DE" dirty="0"/>
          </a:p>
          <a:p>
            <a:pPr marL="457200" marR="0" lvl="0" indent="-457200" algn="l" defTabSz="916494" rtl="0" eaLnBrk="1" fontAlgn="base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bg1"/>
              </a:buClr>
              <a:buSzTx/>
              <a:buFont typeface="+mj-lt"/>
              <a:buAutoNum type="arabicPeriod"/>
              <a:tabLst/>
              <a:defRPr/>
            </a:pPr>
            <a:r>
              <a:rPr lang="de-DE" dirty="0"/>
              <a:t>Thema, Arial, 22 </a:t>
            </a:r>
            <a:r>
              <a:rPr lang="de-DE" dirty="0" err="1"/>
              <a:t>pt</a:t>
            </a:r>
            <a:endParaRPr lang="de-DE" dirty="0"/>
          </a:p>
          <a:p>
            <a:pPr lvl="0"/>
            <a:endParaRPr lang="de-DE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1553D856-750F-D391-E3A3-D60FD24F135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0672" y="6111316"/>
            <a:ext cx="569256" cy="54440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7EFE3F-98C0-3CD7-3D7F-C29E4EFA5B64}"/>
              </a:ext>
            </a:extLst>
          </p:cNvPr>
          <p:cNvSpPr txBox="1"/>
          <p:nvPr userDrawn="1"/>
        </p:nvSpPr>
        <p:spPr>
          <a:xfrm>
            <a:off x="8806849" y="6214240"/>
            <a:ext cx="28560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dirty="0">
                <a:solidFill>
                  <a:schemeClr val="bg1"/>
                </a:solidFill>
              </a:rPr>
              <a:t>DSAG-</a:t>
            </a:r>
            <a:r>
              <a:rPr lang="de-DE" dirty="0" err="1">
                <a:solidFill>
                  <a:schemeClr val="bg1"/>
                </a:solidFill>
              </a:rPr>
              <a:t>TechXchange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b="0" dirty="0">
                <a:solidFill>
                  <a:schemeClr val="bg1"/>
                </a:solidFill>
              </a:rPr>
              <a:t>2025</a:t>
            </a:r>
            <a:endParaRPr lang="en-DE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07160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96">
          <p15:clr>
            <a:srgbClr val="FBAE40"/>
          </p15:clr>
        </p15:guide>
        <p15:guide id="5" orient="horz" pos="527">
          <p15:clr>
            <a:srgbClr val="FBAE40"/>
          </p15:clr>
        </p15:guide>
        <p15:guide id="6" pos="710">
          <p15:clr>
            <a:srgbClr val="FBAE40"/>
          </p15:clr>
        </p15:guide>
        <p15:guide id="7" pos="393">
          <p15:clr>
            <a:srgbClr val="FBAE40"/>
          </p15:clr>
        </p15:guide>
        <p15:guide id="8" pos="461">
          <p15:clr>
            <a:srgbClr val="FBAE40"/>
          </p15:clr>
        </p15:guide>
        <p15:guide id="9" pos="749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Blau, lila, Farbigkeit, Majorelle Blue enthält.&#10;&#10;Automatisch generierte Beschreibung">
            <a:extLst>
              <a:ext uri="{FF2B5EF4-FFF2-40B4-BE49-F238E27FC236}">
                <a16:creationId xmlns:a16="http://schemas.microsoft.com/office/drawing/2014/main" id="{88330F02-C1CB-77BD-B447-427F647838B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72" r="163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B0682D9-9D13-DF4B-2908-F47498D3F1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0672" y="6111316"/>
            <a:ext cx="569256" cy="544403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27EB6490-9888-E350-A4B9-93E9D102FCD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0672" y="6111316"/>
            <a:ext cx="569256" cy="544403"/>
          </a:xfrm>
          <a:prstGeom prst="rect">
            <a:avLst/>
          </a:prstGeom>
        </p:spPr>
      </p:pic>
      <p:sp>
        <p:nvSpPr>
          <p:cNvPr id="59" name="Textplatzhalter 2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31838" y="2079408"/>
            <a:ext cx="7402511" cy="1610011"/>
          </a:xfrm>
          <a:prstGeom prst="rect">
            <a:avLst/>
          </a:prstGeom>
          <a:ln w="28575">
            <a:noFill/>
          </a:ln>
        </p:spPr>
        <p:txBody>
          <a:bodyPr wrap="square" lIns="90000" tIns="180000" rIns="90000" bIns="180000">
            <a:spAutoFit/>
          </a:bodyPr>
          <a:lstStyle>
            <a:lvl1pPr marL="0" marR="0" indent="0" algn="l" defTabSz="916494" rtl="0" eaLnBrk="1" fontAlgn="base" latinLnBrk="0" hangingPunct="1">
              <a:lnSpc>
                <a:spcPct val="100000"/>
              </a:lnSpc>
              <a:spcBef>
                <a:spcPct val="40000"/>
              </a:spcBef>
              <a:spcAft>
                <a:spcPct val="30000"/>
              </a:spcAft>
              <a:buClr>
                <a:schemeClr val="accent1"/>
              </a:buClr>
              <a:buSzTx/>
              <a:buFont typeface="+mj-lt"/>
              <a:buNone/>
              <a:tabLst/>
              <a:defRPr sz="3000" b="0">
                <a:solidFill>
                  <a:schemeClr val="bg1"/>
                </a:solidFill>
                <a:latin typeface="+mj-lt"/>
              </a:defRPr>
            </a:lvl1pPr>
            <a:lvl2pPr marL="457189" indent="0">
              <a:buFont typeface="Symbol" panose="05050102010706020507" pitchFamily="18" charset="2"/>
              <a:buNone/>
              <a:defRPr/>
            </a:lvl2pPr>
            <a:lvl3pPr marL="914377" indent="0">
              <a:buFont typeface="Symbol" panose="05050102010706020507" pitchFamily="18" charset="2"/>
              <a:buNone/>
              <a:defRPr/>
            </a:lvl3pPr>
            <a:lvl4pPr marL="1371566" indent="0">
              <a:buFont typeface="Symbol" panose="05050102010706020507" pitchFamily="18" charset="2"/>
              <a:buNone/>
              <a:defRPr/>
            </a:lvl4pPr>
          </a:lstStyle>
          <a:p>
            <a:pPr lvl="0"/>
            <a:r>
              <a:rPr lang="de-DE" dirty="0"/>
              <a:t>Thema, Arial Black, 30 </a:t>
            </a:r>
            <a:r>
              <a:rPr lang="de-DE" dirty="0" err="1"/>
              <a:t>pt</a:t>
            </a:r>
            <a:endParaRPr lang="de-DE" dirty="0"/>
          </a:p>
          <a:p>
            <a:pPr lvl="0"/>
            <a:endParaRPr lang="de-DE" dirty="0"/>
          </a:p>
        </p:txBody>
      </p:sp>
      <p:sp>
        <p:nvSpPr>
          <p:cNvPr id="25" name="Textplatzhalter 7">
            <a:extLst>
              <a:ext uri="{FF2B5EF4-FFF2-40B4-BE49-F238E27FC236}">
                <a16:creationId xmlns:a16="http://schemas.microsoft.com/office/drawing/2014/main" id="{F00CDABE-5B67-1FF1-3374-54884A10CB06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15938" y="152400"/>
            <a:ext cx="7569545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" name="Fußzeilenplatzhalter 4">
            <a:extLst>
              <a:ext uri="{FF2B5EF4-FFF2-40B4-BE49-F238E27FC236}">
                <a16:creationId xmlns:a16="http://schemas.microsoft.com/office/drawing/2014/main" id="{3819C7CA-109D-3CE6-A1CD-30DCE3133882}"/>
              </a:ext>
            </a:extLst>
          </p:cNvPr>
          <p:cNvSpPr txBox="1">
            <a:spLocks/>
          </p:cNvSpPr>
          <p:nvPr userDrawn="1"/>
        </p:nvSpPr>
        <p:spPr>
          <a:xfrm>
            <a:off x="423974" y="6430711"/>
            <a:ext cx="3335217" cy="3903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ct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900" b="0" i="0" dirty="0">
                <a:solidFill>
                  <a:schemeClr val="bg1"/>
                </a:solidFill>
                <a:latin typeface="+mn-lt"/>
                <a:cs typeface="Helvetica Light"/>
              </a:rPr>
              <a:t>© DSAG | Seite </a:t>
            </a:r>
            <a:fld id="{DA91E406-5084-3248-8911-C7B8CABF8078}" type="slidenum">
              <a:rPr lang="de-DE" sz="900" b="0" i="0" dirty="0">
                <a:solidFill>
                  <a:schemeClr val="bg1"/>
                </a:solidFill>
                <a:latin typeface="+mn-lt"/>
                <a:cs typeface="Helvetica Light"/>
              </a:rPr>
              <a:pPr algn="l"/>
              <a:t>‹#›</a:t>
            </a:fld>
            <a:r>
              <a:rPr lang="de-DE" sz="900" b="0" i="0" dirty="0">
                <a:solidFill>
                  <a:schemeClr val="bg1"/>
                </a:solidFill>
                <a:latin typeface="+mn-lt"/>
                <a:cs typeface="Helvetica Light"/>
              </a:rPr>
              <a:t> | </a:t>
            </a:r>
            <a:fld id="{F7A57CAC-9BE6-984A-ACA0-6397C7AD78FB}" type="datetime4">
              <a:rPr lang="de-DE" sz="900" b="0" i="0" smtClean="0">
                <a:solidFill>
                  <a:schemeClr val="bg1"/>
                </a:solidFill>
                <a:latin typeface="+mn-lt"/>
                <a:cs typeface="Helvetica Light"/>
              </a:rPr>
              <a:pPr algn="l"/>
              <a:t>10. Dezember 2025</a:t>
            </a:fld>
            <a:endParaRPr lang="de-DE" sz="900" b="0" i="0" dirty="0">
              <a:solidFill>
                <a:schemeClr val="bg1"/>
              </a:solidFill>
              <a:latin typeface="+mn-lt"/>
              <a:cs typeface="Helvetica Ligh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69BDE1-3D61-7E93-F41E-071AE288F487}"/>
              </a:ext>
            </a:extLst>
          </p:cNvPr>
          <p:cNvSpPr txBox="1"/>
          <p:nvPr userDrawn="1"/>
        </p:nvSpPr>
        <p:spPr>
          <a:xfrm>
            <a:off x="8806850" y="6214240"/>
            <a:ext cx="27007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dirty="0">
                <a:solidFill>
                  <a:schemeClr val="bg1"/>
                </a:solidFill>
              </a:rPr>
              <a:t>DSAG-</a:t>
            </a:r>
            <a:r>
              <a:rPr lang="de-DE" dirty="0" err="1">
                <a:solidFill>
                  <a:schemeClr val="bg1"/>
                </a:solidFill>
              </a:rPr>
              <a:t>TechXchange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b="0" dirty="0">
                <a:solidFill>
                  <a:schemeClr val="bg1"/>
                </a:solidFill>
              </a:rPr>
              <a:t>2025</a:t>
            </a:r>
            <a:endParaRPr lang="en-DE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1073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  <p15:guide id="8" orient="horz" pos="96">
          <p15:clr>
            <a:srgbClr val="FBAE40"/>
          </p15:clr>
        </p15:guide>
        <p15:guide id="9" pos="461">
          <p15:clr>
            <a:srgbClr val="FBAE40"/>
          </p15:clr>
        </p15:guide>
        <p15:guide id="10" pos="393">
          <p15:clr>
            <a:srgbClr val="FBAE40"/>
          </p15:clr>
        </p15:guide>
        <p15:guide id="11" pos="710">
          <p15:clr>
            <a:srgbClr val="FBAE40"/>
          </p15:clr>
        </p15:guide>
        <p15:guide id="12" orient="horz" pos="66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extf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9">
            <a:extLst>
              <a:ext uri="{FF2B5EF4-FFF2-40B4-BE49-F238E27FC236}">
                <a16:creationId xmlns:a16="http://schemas.microsoft.com/office/drawing/2014/main" id="{2632BA4D-ECC8-4004-A450-F16361C7B3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8813" y="1341437"/>
            <a:ext cx="10937875" cy="4883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n-lt"/>
              </a:defRPr>
            </a:lvl1pPr>
            <a:lvl2pPr marL="228600" indent="-228600">
              <a:buClr>
                <a:schemeClr val="accent1"/>
              </a:buClr>
              <a:buFont typeface="Arial" panose="020B0604020202020204" pitchFamily="34" charset="0"/>
              <a:buChar char="•"/>
              <a:defRPr sz="2000" b="1">
                <a:solidFill>
                  <a:schemeClr val="accent1"/>
                </a:solidFill>
                <a:latin typeface="+mn-lt"/>
              </a:defRPr>
            </a:lvl2pPr>
            <a:lvl3pPr marL="539750" indent="-228600">
              <a:buClr>
                <a:schemeClr val="accent1">
                  <a:lumMod val="75000"/>
                  <a:lumOff val="25000"/>
                </a:schemeClr>
              </a:buClr>
              <a:buSzPct val="100000"/>
              <a:buFont typeface="Arial" panose="020B0604020202020204" pitchFamily="34" charset="0"/>
              <a:buChar char="•"/>
              <a:defRPr sz="1800">
                <a:solidFill>
                  <a:schemeClr val="accent1"/>
                </a:solidFill>
                <a:latin typeface="+mn-lt"/>
              </a:defRPr>
            </a:lvl3pPr>
            <a:lvl4pPr marL="896938" indent="-228600">
              <a:buClr>
                <a:schemeClr val="accent6">
                  <a:lumMod val="25000"/>
                  <a:lumOff val="75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accent1"/>
                </a:solidFill>
                <a:latin typeface="+mn-lt"/>
              </a:defRPr>
            </a:lvl4pPr>
            <a:lvl5pPr marL="1260000" indent="-228600">
              <a:buFont typeface="Arial" panose="020B0604020202020204" pitchFamily="34" charset="0"/>
              <a:buChar char="•"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C2D15EB4-B6C6-44F8-BF33-6EA7629071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8" y="152400"/>
            <a:ext cx="11730297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TITEL, </a:t>
            </a:r>
            <a:r>
              <a:rPr lang="de-DE" dirty="0" err="1"/>
              <a:t>ARIal</a:t>
            </a:r>
            <a:r>
              <a:rPr lang="de-DE" dirty="0"/>
              <a:t> </a:t>
            </a:r>
            <a:r>
              <a:rPr lang="de-DE" dirty="0" err="1"/>
              <a:t>black</a:t>
            </a:r>
            <a:r>
              <a:rPr lang="de-DE" dirty="0"/>
              <a:t>, Versal, 24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2443BA-9941-3985-E8D3-C6FCDD2A5C29}"/>
              </a:ext>
            </a:extLst>
          </p:cNvPr>
          <p:cNvSpPr txBox="1"/>
          <p:nvPr userDrawn="1"/>
        </p:nvSpPr>
        <p:spPr>
          <a:xfrm>
            <a:off x="11753711" y="981355"/>
            <a:ext cx="392406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de-DE" sz="1200" b="0" dirty="0">
                <a:solidFill>
                  <a:srgbClr val="22485B"/>
                </a:solidFill>
              </a:rPr>
              <a:t>2025</a:t>
            </a:r>
            <a:endParaRPr lang="en-DE" sz="1200" b="0" dirty="0">
              <a:solidFill>
                <a:srgbClr val="22485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6557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  <p15:guide id="2" orient="horz" pos="527">
          <p15:clr>
            <a:srgbClr val="FBAE40"/>
          </p15:clr>
        </p15:guide>
        <p15:guide id="3" orient="horz" pos="96">
          <p15:clr>
            <a:srgbClr val="FBAE40"/>
          </p15:clr>
        </p15:guide>
        <p15:guide id="4" pos="415">
          <p15:clr>
            <a:srgbClr val="FBAE40"/>
          </p15:clr>
        </p15:guide>
        <p15:guide id="5" pos="461">
          <p15:clr>
            <a:srgbClr val="FBAE40"/>
          </p15:clr>
        </p15:guide>
        <p15:guide id="6" pos="77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9">
            <a:extLst>
              <a:ext uri="{FF2B5EF4-FFF2-40B4-BE49-F238E27FC236}">
                <a16:creationId xmlns:a16="http://schemas.microsoft.com/office/drawing/2014/main" id="{E5363237-72B2-46B1-B2A3-6483E032D7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8813" y="1341437"/>
            <a:ext cx="5113337" cy="4883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n-lt"/>
              </a:defRPr>
            </a:lvl1pPr>
            <a:lvl2pPr marL="228600" indent="-228600">
              <a:buClr>
                <a:schemeClr val="accent1"/>
              </a:buClr>
              <a:buFont typeface="Arial" panose="020B0604020202020204" pitchFamily="34" charset="0"/>
              <a:buChar char="•"/>
              <a:defRPr sz="2000" b="1">
                <a:solidFill>
                  <a:schemeClr val="accent1"/>
                </a:solidFill>
                <a:latin typeface="+mn-lt"/>
              </a:defRPr>
            </a:lvl2pPr>
            <a:lvl3pPr marL="539750" indent="-228600">
              <a:buClr>
                <a:schemeClr val="accent1">
                  <a:lumMod val="75000"/>
                  <a:lumOff val="25000"/>
                </a:schemeClr>
              </a:buClr>
              <a:buSzPct val="100000"/>
              <a:buFont typeface="Arial" panose="020B0604020202020204" pitchFamily="34" charset="0"/>
              <a:buChar char="•"/>
              <a:defRPr sz="1800">
                <a:solidFill>
                  <a:schemeClr val="accent1"/>
                </a:solidFill>
                <a:latin typeface="+mn-lt"/>
              </a:defRPr>
            </a:lvl3pPr>
            <a:lvl4pPr marL="896938" indent="-228600">
              <a:buClr>
                <a:schemeClr val="accent6">
                  <a:lumMod val="25000"/>
                  <a:lumOff val="75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accent1"/>
                </a:solidFill>
                <a:latin typeface="+mn-lt"/>
              </a:defRPr>
            </a:lvl4pPr>
            <a:lvl5pPr marL="1260000" indent="-228600">
              <a:buFont typeface="Arial" panose="020B0604020202020204" pitchFamily="34" charset="0"/>
              <a:buChar char="•"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5" name="Textplatzhalter 9">
            <a:extLst>
              <a:ext uri="{FF2B5EF4-FFF2-40B4-BE49-F238E27FC236}">
                <a16:creationId xmlns:a16="http://schemas.microsoft.com/office/drawing/2014/main" id="{32A60FC3-BAC6-4CBD-8D26-83346590B2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91288" y="1341437"/>
            <a:ext cx="5113337" cy="4883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n-lt"/>
              </a:defRPr>
            </a:lvl1pPr>
            <a:lvl2pPr marL="228600" indent="-228600">
              <a:buClr>
                <a:schemeClr val="accent1"/>
              </a:buClr>
              <a:buFont typeface="Arial" panose="020B0604020202020204" pitchFamily="34" charset="0"/>
              <a:buChar char="•"/>
              <a:defRPr sz="2000" b="1">
                <a:solidFill>
                  <a:schemeClr val="accent1"/>
                </a:solidFill>
                <a:latin typeface="+mn-lt"/>
              </a:defRPr>
            </a:lvl2pPr>
            <a:lvl3pPr marL="539750" indent="-228600">
              <a:buClr>
                <a:schemeClr val="accent1">
                  <a:lumMod val="75000"/>
                  <a:lumOff val="25000"/>
                </a:schemeClr>
              </a:buClr>
              <a:buSzPct val="100000"/>
              <a:buFont typeface="Arial" panose="020B0604020202020204" pitchFamily="34" charset="0"/>
              <a:buChar char="•"/>
              <a:defRPr sz="1800">
                <a:solidFill>
                  <a:schemeClr val="accent1"/>
                </a:solidFill>
                <a:latin typeface="+mn-lt"/>
              </a:defRPr>
            </a:lvl3pPr>
            <a:lvl4pPr marL="896938" indent="-228600">
              <a:buClr>
                <a:schemeClr val="accent6">
                  <a:lumMod val="25000"/>
                  <a:lumOff val="75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accent1"/>
                </a:solidFill>
                <a:latin typeface="+mn-lt"/>
              </a:defRPr>
            </a:lvl4pPr>
            <a:lvl5pPr marL="1260000" indent="-228600">
              <a:buFont typeface="Arial" panose="020B0604020202020204" pitchFamily="34" charset="0"/>
              <a:buChar char="•"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A4AF7D2-9104-4284-B7C3-77AAF33D79F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8" y="152400"/>
            <a:ext cx="11730297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TITEL, </a:t>
            </a:r>
            <a:r>
              <a:rPr lang="de-DE" dirty="0" err="1"/>
              <a:t>ARIal</a:t>
            </a:r>
            <a:r>
              <a:rPr lang="de-DE" dirty="0"/>
              <a:t> </a:t>
            </a:r>
            <a:r>
              <a:rPr lang="de-DE" dirty="0" err="1"/>
              <a:t>black</a:t>
            </a:r>
            <a:r>
              <a:rPr lang="de-DE" dirty="0"/>
              <a:t>, Versal, 24 </a:t>
            </a:r>
            <a:r>
              <a:rPr lang="de-DE" dirty="0" err="1"/>
              <a:t>pt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25743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  <p15:guide id="3" pos="4089">
          <p15:clr>
            <a:srgbClr val="FBAE40"/>
          </p15:clr>
        </p15:guide>
        <p15:guide id="4" orient="horz" pos="96">
          <p15:clr>
            <a:srgbClr val="FBAE40"/>
          </p15:clr>
        </p15:guide>
        <p15:guide id="5" orient="horz" pos="527">
          <p15:clr>
            <a:srgbClr val="FBAE40"/>
          </p15:clr>
        </p15:guide>
        <p15:guide id="6" pos="3840">
          <p15:clr>
            <a:srgbClr val="FBAE40"/>
          </p15:clr>
        </p15:guide>
        <p15:guide id="7" pos="415">
          <p15:clr>
            <a:srgbClr val="FBAE40"/>
          </p15:clr>
        </p15:guide>
        <p15:guide id="8" pos="46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ze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2EC2443-8338-45D2-BBEB-BC1D6C9E34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8" y="152400"/>
            <a:ext cx="11730297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TITEL, </a:t>
            </a:r>
            <a:r>
              <a:rPr lang="de-DE" dirty="0" err="1"/>
              <a:t>ARIal</a:t>
            </a:r>
            <a:r>
              <a:rPr lang="de-DE" dirty="0"/>
              <a:t> </a:t>
            </a:r>
            <a:r>
              <a:rPr lang="de-DE" dirty="0" err="1"/>
              <a:t>black</a:t>
            </a:r>
            <a:r>
              <a:rPr lang="de-DE" dirty="0"/>
              <a:t>, Versal, 24 </a:t>
            </a:r>
            <a:r>
              <a:rPr lang="de-DE" dirty="0" err="1"/>
              <a:t>pt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0297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  <p15:guide id="2" orient="horz" pos="9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 Textf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9">
            <a:extLst>
              <a:ext uri="{FF2B5EF4-FFF2-40B4-BE49-F238E27FC236}">
                <a16:creationId xmlns:a16="http://schemas.microsoft.com/office/drawing/2014/main" id="{2632BA4D-ECC8-4004-A450-F16361C7B3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8813" y="1341437"/>
            <a:ext cx="10937875" cy="4883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n-lt"/>
              </a:defRPr>
            </a:lvl1pPr>
            <a:lvl2pPr marL="228600" indent="-228600">
              <a:buClr>
                <a:schemeClr val="accent1"/>
              </a:buClr>
              <a:buFont typeface="Arial" panose="020B0604020202020204" pitchFamily="34" charset="0"/>
              <a:buChar char="•"/>
              <a:defRPr sz="2000" b="1">
                <a:solidFill>
                  <a:schemeClr val="accent1"/>
                </a:solidFill>
                <a:latin typeface="+mn-lt"/>
              </a:defRPr>
            </a:lvl2pPr>
            <a:lvl3pPr marL="539750" indent="-228600">
              <a:buClr>
                <a:schemeClr val="accent1">
                  <a:lumMod val="75000"/>
                  <a:lumOff val="25000"/>
                </a:schemeClr>
              </a:buClr>
              <a:buSzPct val="100000"/>
              <a:buFont typeface="Arial" panose="020B0604020202020204" pitchFamily="34" charset="0"/>
              <a:buChar char="•"/>
              <a:defRPr sz="1800">
                <a:solidFill>
                  <a:schemeClr val="accent1"/>
                </a:solidFill>
                <a:latin typeface="+mn-lt"/>
              </a:defRPr>
            </a:lvl3pPr>
            <a:lvl4pPr marL="896938" indent="-228600">
              <a:buClr>
                <a:schemeClr val="accent6">
                  <a:lumMod val="25000"/>
                  <a:lumOff val="75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accent1"/>
                </a:solidFill>
                <a:latin typeface="+mn-lt"/>
              </a:defRPr>
            </a:lvl4pPr>
            <a:lvl5pPr marL="1260000" indent="-228600">
              <a:buFont typeface="Arial" panose="020B0604020202020204" pitchFamily="34" charset="0"/>
              <a:buChar char="•"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C2D15EB4-B6C6-44F8-BF33-6EA7629071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8" y="152400"/>
            <a:ext cx="11730297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TITEL, </a:t>
            </a:r>
            <a:r>
              <a:rPr lang="de-DE" dirty="0" err="1"/>
              <a:t>ARIal</a:t>
            </a:r>
            <a:r>
              <a:rPr lang="de-DE" dirty="0"/>
              <a:t> </a:t>
            </a:r>
            <a:r>
              <a:rPr lang="de-DE" dirty="0" err="1"/>
              <a:t>black</a:t>
            </a:r>
            <a:r>
              <a:rPr lang="de-DE" dirty="0"/>
              <a:t>, Versal, 24 </a:t>
            </a:r>
            <a:r>
              <a:rPr lang="de-DE" dirty="0" err="1"/>
              <a:t>pt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9635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  <p15:guide id="2" orient="horz" pos="527">
          <p15:clr>
            <a:srgbClr val="FBAE40"/>
          </p15:clr>
        </p15:guide>
        <p15:guide id="3" orient="horz" pos="96">
          <p15:clr>
            <a:srgbClr val="FBAE40"/>
          </p15:clr>
        </p15:guide>
        <p15:guide id="4" pos="415" userDrawn="1">
          <p15:clr>
            <a:srgbClr val="FBAE40"/>
          </p15:clr>
        </p15:guide>
        <p15:guide id="5" pos="461">
          <p15:clr>
            <a:srgbClr val="FBAE40"/>
          </p15:clr>
        </p15:guide>
        <p15:guide id="6" pos="77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Text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9">
            <a:extLst>
              <a:ext uri="{FF2B5EF4-FFF2-40B4-BE49-F238E27FC236}">
                <a16:creationId xmlns:a16="http://schemas.microsoft.com/office/drawing/2014/main" id="{E5363237-72B2-46B1-B2A3-6483E032D7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8813" y="1341437"/>
            <a:ext cx="5113337" cy="4883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n-lt"/>
              </a:defRPr>
            </a:lvl1pPr>
            <a:lvl2pPr marL="228600" indent="-228600">
              <a:buClr>
                <a:schemeClr val="accent1"/>
              </a:buClr>
              <a:buFont typeface="Arial" panose="020B0604020202020204" pitchFamily="34" charset="0"/>
              <a:buChar char="•"/>
              <a:defRPr sz="2000" b="1">
                <a:solidFill>
                  <a:schemeClr val="accent1"/>
                </a:solidFill>
                <a:latin typeface="+mn-lt"/>
              </a:defRPr>
            </a:lvl2pPr>
            <a:lvl3pPr marL="539750" indent="-228600">
              <a:buClr>
                <a:schemeClr val="accent1">
                  <a:lumMod val="75000"/>
                  <a:lumOff val="25000"/>
                </a:schemeClr>
              </a:buClr>
              <a:buSzPct val="100000"/>
              <a:buFont typeface="Arial" panose="020B0604020202020204" pitchFamily="34" charset="0"/>
              <a:buChar char="•"/>
              <a:defRPr sz="1800">
                <a:solidFill>
                  <a:schemeClr val="accent1"/>
                </a:solidFill>
                <a:latin typeface="+mn-lt"/>
              </a:defRPr>
            </a:lvl3pPr>
            <a:lvl4pPr marL="896938" indent="-228600">
              <a:buClr>
                <a:schemeClr val="accent6">
                  <a:lumMod val="25000"/>
                  <a:lumOff val="75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accent1"/>
                </a:solidFill>
                <a:latin typeface="+mn-lt"/>
              </a:defRPr>
            </a:lvl4pPr>
            <a:lvl5pPr marL="1260000" indent="-228600">
              <a:buFont typeface="Arial" panose="020B0604020202020204" pitchFamily="34" charset="0"/>
              <a:buChar char="•"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5" name="Textplatzhalter 9">
            <a:extLst>
              <a:ext uri="{FF2B5EF4-FFF2-40B4-BE49-F238E27FC236}">
                <a16:creationId xmlns:a16="http://schemas.microsoft.com/office/drawing/2014/main" id="{32A60FC3-BAC6-4CBD-8D26-83346590B2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91288" y="1341437"/>
            <a:ext cx="5113337" cy="4883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n-lt"/>
              </a:defRPr>
            </a:lvl1pPr>
            <a:lvl2pPr marL="228600" indent="-228600">
              <a:buClr>
                <a:schemeClr val="accent1"/>
              </a:buClr>
              <a:buFont typeface="Arial" panose="020B0604020202020204" pitchFamily="34" charset="0"/>
              <a:buChar char="•"/>
              <a:defRPr sz="2000" b="1">
                <a:solidFill>
                  <a:schemeClr val="accent1"/>
                </a:solidFill>
                <a:latin typeface="+mn-lt"/>
              </a:defRPr>
            </a:lvl2pPr>
            <a:lvl3pPr marL="539750" indent="-228600">
              <a:buClr>
                <a:schemeClr val="accent1">
                  <a:lumMod val="75000"/>
                  <a:lumOff val="25000"/>
                </a:schemeClr>
              </a:buClr>
              <a:buSzPct val="100000"/>
              <a:buFont typeface="Arial" panose="020B0604020202020204" pitchFamily="34" charset="0"/>
              <a:buChar char="•"/>
              <a:defRPr sz="1800">
                <a:solidFill>
                  <a:schemeClr val="accent1"/>
                </a:solidFill>
                <a:latin typeface="+mn-lt"/>
              </a:defRPr>
            </a:lvl3pPr>
            <a:lvl4pPr marL="896938" indent="-228600">
              <a:buClr>
                <a:schemeClr val="accent6">
                  <a:lumMod val="25000"/>
                  <a:lumOff val="75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accent1"/>
                </a:solidFill>
                <a:latin typeface="+mn-lt"/>
              </a:defRPr>
            </a:lvl4pPr>
            <a:lvl5pPr marL="1260000" indent="-228600">
              <a:buFont typeface="Arial" panose="020B0604020202020204" pitchFamily="34" charset="0"/>
              <a:buChar char="•"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A4AF7D2-9104-4284-B7C3-77AAF33D79F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8" y="152400"/>
            <a:ext cx="11730297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TITEL, </a:t>
            </a:r>
            <a:r>
              <a:rPr lang="de-DE" dirty="0" err="1"/>
              <a:t>ARIal</a:t>
            </a:r>
            <a:r>
              <a:rPr lang="de-DE" dirty="0"/>
              <a:t> </a:t>
            </a:r>
            <a:r>
              <a:rPr lang="de-DE" dirty="0" err="1"/>
              <a:t>black</a:t>
            </a:r>
            <a:r>
              <a:rPr lang="de-DE" dirty="0"/>
              <a:t>, Versal, 24 </a:t>
            </a:r>
            <a:r>
              <a:rPr lang="de-DE" dirty="0" err="1"/>
              <a:t>pt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26003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  <p15:guide id="3" pos="4089">
          <p15:clr>
            <a:srgbClr val="FBAE40"/>
          </p15:clr>
        </p15:guide>
        <p15:guide id="4" orient="horz" pos="96">
          <p15:clr>
            <a:srgbClr val="FBAE40"/>
          </p15:clr>
        </p15:guide>
        <p15:guide id="5" orient="horz" pos="527">
          <p15:clr>
            <a:srgbClr val="FBAE40"/>
          </p15:clr>
        </p15:guide>
        <p15:guide id="6" pos="3840">
          <p15:clr>
            <a:srgbClr val="FBAE40"/>
          </p15:clr>
        </p15:guide>
        <p15:guide id="7" pos="415" userDrawn="1">
          <p15:clr>
            <a:srgbClr val="FBAE40"/>
          </p15:clr>
        </p15:guide>
        <p15:guide id="8" pos="46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ur Titelze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2EC2443-8338-45D2-BBEB-BC1D6C9E34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8" y="152400"/>
            <a:ext cx="11730297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TITEL, </a:t>
            </a:r>
            <a:r>
              <a:rPr lang="de-DE" dirty="0" err="1"/>
              <a:t>ARIal</a:t>
            </a:r>
            <a:r>
              <a:rPr lang="de-DE" dirty="0"/>
              <a:t> </a:t>
            </a:r>
            <a:r>
              <a:rPr lang="de-DE" dirty="0" err="1"/>
              <a:t>black</a:t>
            </a:r>
            <a:r>
              <a:rPr lang="de-DE" dirty="0"/>
              <a:t>, Versal, 24 </a:t>
            </a:r>
            <a:r>
              <a:rPr lang="de-DE" dirty="0" err="1"/>
              <a:t>pt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85952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 userDrawn="1">
          <p15:clr>
            <a:srgbClr val="FBAE40"/>
          </p15:clr>
        </p15:guide>
        <p15:guide id="2" orient="horz" pos="9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695554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39057"/>
            <a:ext cx="11018520" cy="430887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100797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6C845205-7612-649C-CECE-30BF1C8A4E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51" b="3744"/>
          <a:stretch/>
        </p:blipFill>
        <p:spPr>
          <a:xfrm>
            <a:off x="0" y="0"/>
            <a:ext cx="12192001" cy="981075"/>
          </a:xfrm>
          <a:prstGeom prst="rect">
            <a:avLst/>
          </a:prstGeom>
        </p:spPr>
      </p:pic>
      <p:sp>
        <p:nvSpPr>
          <p:cNvPr id="6" name="Fußzeilenplatzhalter 4">
            <a:extLst>
              <a:ext uri="{FF2B5EF4-FFF2-40B4-BE49-F238E27FC236}">
                <a16:creationId xmlns:a16="http://schemas.microsoft.com/office/drawing/2014/main" id="{DAC994D6-17AA-4DD3-91B8-71D231AE3A90}"/>
              </a:ext>
            </a:extLst>
          </p:cNvPr>
          <p:cNvSpPr txBox="1">
            <a:spLocks/>
          </p:cNvSpPr>
          <p:nvPr userDrawn="1"/>
        </p:nvSpPr>
        <p:spPr>
          <a:xfrm>
            <a:off x="423974" y="6430711"/>
            <a:ext cx="3335217" cy="3903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ct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900" b="0" i="0" dirty="0">
                <a:solidFill>
                  <a:schemeClr val="accent1"/>
                </a:solidFill>
                <a:latin typeface="+mn-lt"/>
                <a:cs typeface="Helvetica Light"/>
              </a:rPr>
              <a:t>© DSAG | Seite </a:t>
            </a:r>
            <a:fld id="{DA91E406-5084-3248-8911-C7B8CABF8078}" type="slidenum">
              <a:rPr lang="de-DE" sz="900" b="0" i="0" dirty="0">
                <a:solidFill>
                  <a:schemeClr val="accent1"/>
                </a:solidFill>
                <a:latin typeface="+mn-lt"/>
                <a:cs typeface="Helvetica Light"/>
              </a:rPr>
              <a:pPr algn="l"/>
              <a:t>‹#›</a:t>
            </a:fld>
            <a:r>
              <a:rPr lang="de-DE" sz="900" b="0" i="0" dirty="0">
                <a:solidFill>
                  <a:schemeClr val="accent1"/>
                </a:solidFill>
                <a:latin typeface="+mn-lt"/>
                <a:cs typeface="Helvetica Light"/>
              </a:rPr>
              <a:t> | </a:t>
            </a:r>
            <a:fld id="{F7A57CAC-9BE6-984A-ACA0-6397C7AD78FB}" type="datetime4">
              <a:rPr lang="de-DE" sz="900" b="0" i="0" smtClean="0">
                <a:solidFill>
                  <a:schemeClr val="accent1"/>
                </a:solidFill>
                <a:latin typeface="+mn-lt"/>
                <a:cs typeface="Helvetica Light"/>
              </a:rPr>
              <a:pPr algn="l"/>
              <a:t>10. Dezember 2025</a:t>
            </a:fld>
            <a:endParaRPr lang="de-DE" sz="900" b="0" i="0" dirty="0">
              <a:solidFill>
                <a:schemeClr val="accent1"/>
              </a:solidFill>
              <a:latin typeface="+mn-lt"/>
              <a:cs typeface="Helvetica Light"/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399C4D63-C98D-CC7E-0263-A1019884D4A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1885" y="6121758"/>
            <a:ext cx="479069" cy="4790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A52E78-8B8E-192A-7297-175491243496}"/>
              </a:ext>
            </a:extLst>
          </p:cNvPr>
          <p:cNvSpPr txBox="1"/>
          <p:nvPr userDrawn="1"/>
        </p:nvSpPr>
        <p:spPr>
          <a:xfrm>
            <a:off x="9335937" y="981075"/>
            <a:ext cx="2856063" cy="338554"/>
          </a:xfrm>
          <a:prstGeom prst="rect">
            <a:avLst/>
          </a:prstGeom>
          <a:solidFill>
            <a:srgbClr val="22485B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de-DE" dirty="0">
                <a:solidFill>
                  <a:schemeClr val="bg1"/>
                </a:solidFill>
              </a:rPr>
              <a:t>DSAG-</a:t>
            </a:r>
            <a:r>
              <a:rPr lang="de-DE" dirty="0" err="1">
                <a:solidFill>
                  <a:schemeClr val="bg1"/>
                </a:solidFill>
              </a:rPr>
              <a:t>TechXchange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b="0" dirty="0">
                <a:solidFill>
                  <a:schemeClr val="bg1"/>
                </a:solidFill>
              </a:rPr>
              <a:t>2025</a:t>
            </a:r>
            <a:endParaRPr lang="en-DE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424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0" r:id="rId6"/>
    <p:sldLayoutId id="2147483703" r:id="rId7"/>
    <p:sldLayoutId id="2147483704" r:id="rId8"/>
    <p:sldLayoutId id="2147483679" r:id="rId9"/>
    <p:sldLayoutId id="2147483731" r:id="rId10"/>
    <p:sldLayoutId id="2147483732" r:id="rId11"/>
  </p:sldLayoutIdLst>
  <p:hf hdr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933">
          <a:solidFill>
            <a:srgbClr val="7B2F11"/>
          </a:solidFill>
          <a:latin typeface="Arial Black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933">
          <a:solidFill>
            <a:srgbClr val="7B2F11"/>
          </a:solidFill>
          <a:latin typeface="Arial Black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933">
          <a:solidFill>
            <a:srgbClr val="7B2F11"/>
          </a:solidFill>
          <a:latin typeface="Arial Black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933">
          <a:solidFill>
            <a:srgbClr val="7B2F11"/>
          </a:solidFill>
          <a:latin typeface="Arial Black" pitchFamily="34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2933">
          <a:solidFill>
            <a:schemeClr val="bg1"/>
          </a:solidFill>
          <a:latin typeface="Arial Black" pitchFamily="34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2933">
          <a:solidFill>
            <a:schemeClr val="bg1"/>
          </a:solidFill>
          <a:latin typeface="Arial Black" pitchFamily="34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2933">
          <a:solidFill>
            <a:schemeClr val="bg1"/>
          </a:solidFill>
          <a:latin typeface="Arial Black" pitchFamily="34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2933">
          <a:solidFill>
            <a:schemeClr val="bg1"/>
          </a:solidFill>
          <a:latin typeface="Arial Black" pitchFamily="34" charset="0"/>
        </a:defRPr>
      </a:lvl9pPr>
    </p:titleStyle>
    <p:bodyStyle>
      <a:lvl1pPr marL="457189" indent="-457189" algn="l" defTabSz="916494" rtl="0" eaLnBrk="1" fontAlgn="base" hangingPunct="1">
        <a:spcBef>
          <a:spcPct val="40000"/>
        </a:spcBef>
        <a:spcAft>
          <a:spcPct val="30000"/>
        </a:spcAft>
        <a:buClr>
          <a:srgbClr val="00608C"/>
        </a:buClr>
        <a:buFont typeface="Wingdings" pitchFamily="2" charset="2"/>
        <a:defRPr sz="2400" b="1">
          <a:solidFill>
            <a:srgbClr val="292929"/>
          </a:solidFill>
          <a:latin typeface="+mn-lt"/>
          <a:ea typeface="+mn-ea"/>
          <a:cs typeface="+mn-cs"/>
        </a:defRPr>
      </a:lvl1pPr>
      <a:lvl2pPr marL="482588" indent="-239178" algn="l" defTabSz="916494" rtl="0" eaLnBrk="1" fontAlgn="base" hangingPunct="1">
        <a:spcBef>
          <a:spcPct val="0"/>
        </a:spcBef>
        <a:spcAft>
          <a:spcPct val="40000"/>
        </a:spcAft>
        <a:buClr>
          <a:schemeClr val="accent2"/>
        </a:buClr>
        <a:buSzPct val="100000"/>
        <a:buFont typeface="Arial" panose="020B0604020202020204" pitchFamily="34" charset="0"/>
        <a:buChar char="&gt;"/>
        <a:defRPr sz="2133">
          <a:solidFill>
            <a:srgbClr val="292929"/>
          </a:solidFill>
          <a:latin typeface="+mn-lt"/>
        </a:defRPr>
      </a:lvl2pPr>
      <a:lvl3pPr marL="956709" indent="-237061" algn="l" defTabSz="916494" rtl="0" eaLnBrk="1" fontAlgn="base" hangingPunct="1">
        <a:spcBef>
          <a:spcPct val="0"/>
        </a:spcBef>
        <a:spcAft>
          <a:spcPct val="50000"/>
        </a:spcAft>
        <a:buClr>
          <a:schemeClr val="tx2">
            <a:lumMod val="50000"/>
          </a:schemeClr>
        </a:buClr>
        <a:buSzPct val="120000"/>
        <a:buFont typeface="Arial" panose="020B0604020202020204" pitchFamily="34" charset="0"/>
        <a:buChar char="•"/>
        <a:defRPr sz="1867">
          <a:solidFill>
            <a:srgbClr val="292929"/>
          </a:solidFill>
          <a:latin typeface="+mn-lt"/>
        </a:defRPr>
      </a:lvl3pPr>
      <a:lvl4pPr marL="2357908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974940"/>
        </a:buClr>
        <a:buFont typeface="Wingdings" pitchFamily="2" charset="2"/>
        <a:buChar char="l"/>
        <a:defRPr sz="2133">
          <a:solidFill>
            <a:srgbClr val="292929"/>
          </a:solidFill>
          <a:latin typeface="+mn-lt"/>
        </a:defRPr>
      </a:lvl4pPr>
      <a:lvl5pPr marL="2973843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5pPr>
      <a:lvl6pPr marL="3583428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6pPr>
      <a:lvl7pPr marL="4193013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7pPr>
      <a:lvl8pPr marL="4802597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8pPr>
      <a:lvl9pPr marL="5412182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9pPr>
    </p:bodyStyle>
    <p:otherStyle>
      <a:defPPr>
        <a:defRPr lang="de-D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4201">
          <p15:clr>
            <a:srgbClr val="F26B43"/>
          </p15:clr>
        </p15:guide>
        <p15:guide id="11" orient="horz" pos="845">
          <p15:clr>
            <a:srgbClr val="F26B43"/>
          </p15:clr>
        </p15:guide>
        <p15:guide id="13" orient="horz">
          <p15:clr>
            <a:srgbClr val="F26B43"/>
          </p15:clr>
        </p15:guide>
        <p15:guide id="14" pos="325">
          <p15:clr>
            <a:srgbClr val="F26B43"/>
          </p15:clr>
        </p15:guide>
        <p15:guide id="15" pos="7378">
          <p15:clr>
            <a:srgbClr val="F26B43"/>
          </p15:clr>
        </p15:guide>
        <p15:guide id="16" orient="horz" pos="3997">
          <p15:clr>
            <a:srgbClr val="F26B43"/>
          </p15:clr>
        </p15:guide>
        <p15:guide id="17" orient="horz" pos="61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hyperlink" Target="https://aka.ms/techxchange-msft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1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1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www.bsi.bund.de/SharedDocs/Downloads/DE/BSI/Publikationen/Lageberichte/Lagebericht2024.pdf?__blob=publicationFile&amp;v=4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sv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5.png"/><Relationship Id="rId11" Type="http://schemas.openxmlformats.org/officeDocument/2006/relationships/image" Target="../media/image40.svg"/><Relationship Id="rId5" Type="http://schemas.openxmlformats.org/officeDocument/2006/relationships/image" Target="../media/image34.sv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sv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hyperlink" Target="https://www.microsoft.com/en-us/security/blog/2024/06/26/mitigating-skeleton-key-a-new-type-of-generative-ai-jailbreak-technique/" TargetMode="External"/><Relationship Id="rId7" Type="http://schemas.openxmlformats.org/officeDocument/2006/relationships/image" Target="../media/image49.png"/><Relationship Id="rId2" Type="http://schemas.openxmlformats.org/officeDocument/2006/relationships/hyperlink" Target="https://crescendo-the-multiturn-jailbreak.github.io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hyperlink" Target="https://ki-techlab.de/ki-news/llm-refusal-training-easily-bypassed-with-past-tense-prompts/" TargetMode="External"/><Relationship Id="rId9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crosoft.com/security/security-insider/intelligence-reports/microsoft-digital-defense-report-2024" TargetMode="Externa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mailto:michael.schmitt@sap.com" TargetMode="External"/><Relationship Id="rId2" Type="http://schemas.openxmlformats.org/officeDocument/2006/relationships/hyperlink" Target="mailto:martin.pankraz@microsoft.com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jpeg"/><Relationship Id="rId5" Type="http://schemas.openxmlformats.org/officeDocument/2006/relationships/image" Target="../media/image58.png"/><Relationship Id="rId4" Type="http://schemas.openxmlformats.org/officeDocument/2006/relationships/hyperlink" Target="https://www.linkedin.com/in/martin-pankraz/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zure/api-management-policy-snippets/blob/master/examples/Request%20OAuth2%20access%20token%20from%20SAP%20using%20AAD%20JWT%20token.xml" TargetMode="External"/><Relationship Id="rId2" Type="http://schemas.openxmlformats.org/officeDocument/2006/relationships/hyperlink" Target="https://api.sap.com/policytemplate/Principal_Propagation_via_Entra_Id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aka.ms/sneaky-goggles" TargetMode="External"/><Relationship Id="rId2" Type="http://schemas.openxmlformats.org/officeDocument/2006/relationships/hyperlink" Target="https://aka.ms/techxchange-msft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mailto:Holger.bruchelt@microsoft.com" TargetMode="External"/><Relationship Id="rId2" Type="http://schemas.openxmlformats.org/officeDocument/2006/relationships/hyperlink" Target="mailto:martin.pankraz@microsoft.com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8.png"/><Relationship Id="rId5" Type="http://schemas.openxmlformats.org/officeDocument/2006/relationships/hyperlink" Target="https://www.linkedin.com/in/holger-bruchelt/" TargetMode="External"/><Relationship Id="rId4" Type="http://schemas.openxmlformats.org/officeDocument/2006/relationships/hyperlink" Target="https://www.linkedin.com/in/martin-pankraz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E3A33C9-C584-1139-83AD-2C04709E2D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A4A300B-6AAE-1F79-5A6E-CA870BD00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TechXChange</a:t>
            </a:r>
            <a:r>
              <a:rPr lang="en-US" dirty="0"/>
              <a:t> 2025 – Microsoft Track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46A57A2-5A15-4D29-E24D-4827F8992B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667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EA2B68B-07B8-B28C-5ABB-F5B8E1508B9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5938" y="152400"/>
            <a:ext cx="11528279" cy="394252"/>
          </a:xfrm>
        </p:spPr>
        <p:txBody>
          <a:bodyPr/>
          <a:lstStyle/>
          <a:p>
            <a:pPr algn="ctr"/>
            <a:r>
              <a:rPr lang="de-DE" cap="none" dirty="0">
                <a:latin typeface="+mn-lt"/>
                <a:hlinkClick r:id="rId2"/>
              </a:rPr>
              <a:t>https://aka.ms/techxchange-msft</a:t>
            </a:r>
            <a:endParaRPr lang="de-DE" cap="none" dirty="0">
              <a:latin typeface="+mn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ABC3FE-1747-046E-2F5C-669A652FC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634" y="677825"/>
            <a:ext cx="11386210" cy="61240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A48A60-A5C2-0775-569E-C55F44028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34" y="1467789"/>
            <a:ext cx="2264749" cy="53226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341C0C-EB1B-0CEC-8426-211662C381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635" y="677825"/>
            <a:ext cx="10002646" cy="14670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7403CF-E228-66BC-58F0-2A0FE718E6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5480" y="2209519"/>
            <a:ext cx="1297903" cy="27719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6F3422-8F98-E108-06F4-1A1BA69968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9531" y="3639197"/>
            <a:ext cx="1297903" cy="283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361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D04410-BF64-ACA6-5E12-FA0A871F673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1838" y="2079408"/>
            <a:ext cx="7402511" cy="1286845"/>
          </a:xfrm>
        </p:spPr>
        <p:txBody>
          <a:bodyPr/>
          <a:lstStyle/>
          <a:p>
            <a:r>
              <a:rPr lang="en-US" dirty="0"/>
              <a:t>Copilot Studio &amp; SAP: Getting Started</a:t>
            </a:r>
            <a:endParaRPr lang="en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9BB94D-BB17-0D5E-E348-3C03E2D025D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78892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A167A-5B4A-B299-2D68-1F78D8CB2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Meeting you where you are in your Agent building journey</a:t>
            </a:r>
            <a:endParaRPr lang="en-DE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EA56024-8FFF-F966-98DF-818C32637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/>
        </p:nvSpPr>
        <p:spPr bwMode="auto">
          <a:xfrm>
            <a:off x="404074" y="1225007"/>
            <a:ext cx="11383851" cy="5228189"/>
          </a:xfrm>
          <a:prstGeom prst="roundRect">
            <a:avLst>
              <a:gd name="adj" fmla="val 5361"/>
            </a:avLst>
          </a:prstGeom>
          <a:solidFill>
            <a:srgbClr val="454142">
              <a:alpha val="75000"/>
            </a:srgbClr>
          </a:solidFill>
          <a:ln w="15875">
            <a:noFill/>
            <a:headEnd type="none" w="med" len="med"/>
            <a:tailEnd type="none" w="med" len="med"/>
          </a:ln>
          <a:effectLst>
            <a:outerShdw blurRad="279400" algn="ctr" rotWithShape="0">
              <a:prstClr val="black">
                <a:alpha val="15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+mn-ea"/>
              <a:cs typeface="Segoe UI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F5582DE-03FA-ECF6-ECA5-823B1052CC49}"/>
              </a:ext>
            </a:extLst>
          </p:cNvPr>
          <p:cNvSpPr/>
          <p:nvPr/>
        </p:nvSpPr>
        <p:spPr bwMode="auto">
          <a:xfrm>
            <a:off x="568664" y="3912284"/>
            <a:ext cx="11049399" cy="523220"/>
          </a:xfrm>
          <a:prstGeom prst="roundRect">
            <a:avLst>
              <a:gd name="adj" fmla="val 50000"/>
            </a:avLst>
          </a:prstGeom>
          <a:gradFill>
            <a:gsLst>
              <a:gs pos="100000">
                <a:srgbClr val="286BD1"/>
              </a:gs>
              <a:gs pos="0">
                <a:srgbClr val="00B0F0"/>
              </a:gs>
            </a:gsLst>
            <a:lin ang="0" scaled="0"/>
          </a:gradFill>
          <a:ln w="9525" cap="flat" cmpd="sng" algn="ctr">
            <a:noFill/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E286611-7464-B369-735A-BB62D4F03A03}"/>
              </a:ext>
            </a:extLst>
          </p:cNvPr>
          <p:cNvGrpSpPr/>
          <p:nvPr/>
        </p:nvGrpSpPr>
        <p:grpSpPr>
          <a:xfrm>
            <a:off x="1741850" y="3659525"/>
            <a:ext cx="1801554" cy="1544156"/>
            <a:chOff x="1961525" y="3785458"/>
            <a:chExt cx="1801554" cy="154415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8330129-485B-AF41-7234-6303036F5F1F}"/>
                </a:ext>
              </a:extLst>
            </p:cNvPr>
            <p:cNvSpPr/>
            <p:nvPr/>
          </p:nvSpPr>
          <p:spPr bwMode="auto">
            <a:xfrm>
              <a:off x="2366630" y="3785458"/>
              <a:ext cx="991344" cy="991341"/>
            </a:xfrm>
            <a:prstGeom prst="ellipse">
              <a:avLst/>
            </a:prstGeom>
            <a:solidFill>
              <a:schemeClr val="bg1">
                <a:lumMod val="95000"/>
                <a:alpha val="50000"/>
              </a:schemeClr>
            </a:solidFill>
            <a:ln w="6350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781A5A6-151E-A151-96AB-7DF966F5ABEB}"/>
                </a:ext>
              </a:extLst>
            </p:cNvPr>
            <p:cNvSpPr/>
            <p:nvPr/>
          </p:nvSpPr>
          <p:spPr bwMode="auto">
            <a:xfrm>
              <a:off x="2463959" y="3882788"/>
              <a:ext cx="796686" cy="796680"/>
            </a:xfrm>
            <a:prstGeom prst="ellipse">
              <a:avLst/>
            </a:prstGeom>
            <a:solidFill>
              <a:schemeClr val="bg1"/>
            </a:solidFill>
            <a:ln w="15875">
              <a:noFill/>
              <a:headEnd type="none" w="med" len="med"/>
              <a:tailEnd type="none" w="med" len="med"/>
            </a:ln>
            <a:effectLst>
              <a:outerShdw blurRad="279400" algn="ctr" rotWithShape="0">
                <a:prstClr val="black">
                  <a:alpha val="15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1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Segoe UI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64E6391-C515-778B-8A71-701058D41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23" b="2923"/>
            <a:stretch/>
          </p:blipFill>
          <p:spPr>
            <a:xfrm>
              <a:off x="2592878" y="4026167"/>
              <a:ext cx="538849" cy="507350"/>
            </a:xfrm>
            <a:prstGeom prst="rect">
              <a:avLst/>
            </a:prstGeom>
            <a:ln w="7441" cap="flat">
              <a:noFill/>
              <a:prstDash val="solid"/>
              <a:miter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9EAF3487-582C-8347-105E-862682DFB3DE}"/>
                </a:ext>
              </a:extLst>
            </p:cNvPr>
            <p:cNvSpPr/>
            <p:nvPr/>
          </p:nvSpPr>
          <p:spPr bwMode="auto">
            <a:xfrm>
              <a:off x="2163371" y="5107027"/>
              <a:ext cx="1397863" cy="222587"/>
            </a:xfrm>
            <a:prstGeom prst="roundRect">
              <a:avLst>
                <a:gd name="adj" fmla="val 50000"/>
              </a:avLst>
            </a:prstGeom>
            <a:solidFill>
              <a:srgbClr val="0078D4"/>
            </a:solidFill>
            <a:ln>
              <a:noFill/>
              <a:headEnd type="none" w="med" len="med"/>
              <a:tailEnd type="none" w="med" len="med"/>
            </a:ln>
            <a:effectLst>
              <a:outerShdw blurRad="76200" sx="102000" sy="102000" algn="ctr" rotWithShape="0">
                <a:prstClr val="black">
                  <a:alpha val="17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Segoe UI" pitchFamily="34" charset="0"/>
                  <a:cs typeface="Segoe UI" pitchFamily="34" charset="0"/>
                </a:rPr>
                <a:t>For End Users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F0DAFCD-3060-C1F0-16B7-E4EDE4A0E9DA}"/>
                </a:ext>
              </a:extLst>
            </p:cNvPr>
            <p:cNvSpPr txBox="1"/>
            <p:nvPr/>
          </p:nvSpPr>
          <p:spPr>
            <a:xfrm>
              <a:off x="1961525" y="4755450"/>
              <a:ext cx="1801554" cy="353943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egoe UI Semibold"/>
                  <a:cs typeface="Segoe UI Semibold"/>
                </a:rPr>
                <a:t>Agent builder</a:t>
              </a:r>
              <a:endParaRPr lang="en-US" sz="17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 Semibold"/>
                <a:cs typeface="Segoe UI Semibold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9AF2AD6-735D-9BE9-E577-96620785395E}"/>
              </a:ext>
            </a:extLst>
          </p:cNvPr>
          <p:cNvGrpSpPr/>
          <p:nvPr/>
        </p:nvGrpSpPr>
        <p:grpSpPr>
          <a:xfrm>
            <a:off x="5198288" y="3669829"/>
            <a:ext cx="1801762" cy="1523548"/>
            <a:chOff x="5257390" y="3776246"/>
            <a:chExt cx="1801762" cy="152354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93E3FF4-6AA6-EE65-EB8D-E8560967D545}"/>
                </a:ext>
              </a:extLst>
            </p:cNvPr>
            <p:cNvGrpSpPr/>
            <p:nvPr/>
          </p:nvGrpSpPr>
          <p:grpSpPr>
            <a:xfrm>
              <a:off x="5662599" y="3776246"/>
              <a:ext cx="991344" cy="991341"/>
              <a:chOff x="3031090" y="2734209"/>
              <a:chExt cx="752625" cy="752623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FDD2F23-AC89-7797-9869-07C03F6EAF6A}"/>
                  </a:ext>
                </a:extLst>
              </p:cNvPr>
              <p:cNvSpPr/>
              <p:nvPr/>
            </p:nvSpPr>
            <p:spPr bwMode="auto">
              <a:xfrm>
                <a:off x="3031090" y="2734209"/>
                <a:ext cx="752625" cy="752623"/>
              </a:xfrm>
              <a:prstGeom prst="ellipse">
                <a:avLst/>
              </a:prstGeom>
              <a:solidFill>
                <a:schemeClr val="bg1">
                  <a:lumMod val="95000"/>
                  <a:alpha val="50000"/>
                </a:schemeClr>
              </a:solidFill>
              <a:ln w="6350">
                <a:solidFill>
                  <a:schemeClr val="bg1">
                    <a:lumMod val="9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32472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ADDF74B8-EF7D-9124-C911-9B45EC1BD9AF}"/>
                  </a:ext>
                </a:extLst>
              </p:cNvPr>
              <p:cNvSpPr/>
              <p:nvPr/>
            </p:nvSpPr>
            <p:spPr bwMode="auto">
              <a:xfrm>
                <a:off x="3104982" y="2808102"/>
                <a:ext cx="604841" cy="604837"/>
              </a:xfrm>
              <a:prstGeom prst="ellipse">
                <a:avLst/>
              </a:prstGeom>
              <a:solidFill>
                <a:schemeClr val="bg1"/>
              </a:solidFill>
              <a:ln w="15875">
                <a:noFill/>
                <a:headEnd type="none" w="med" len="med"/>
                <a:tailEnd type="none" w="med" len="med"/>
              </a:ln>
              <a:effectLst>
                <a:outerShdw blurRad="279400" algn="ctr" rotWithShape="0">
                  <a:prstClr val="black">
                    <a:alpha val="15000"/>
                  </a:prstClr>
                </a:outerShdw>
              </a:effectLst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32472" rtl="0" eaLnBrk="1" fontAlgn="base" latinLnBrk="0" hangingPunct="1">
                  <a:lnSpc>
                    <a:spcPct val="11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Segoe UI" pitchFamily="34" charset="0"/>
                </a:endParaRPr>
              </a:p>
            </p:txBody>
          </p:sp>
        </p:grp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B1CE7E7A-9F57-8225-23A5-345CC9207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897672" y="4004485"/>
              <a:ext cx="521199" cy="521199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EF9F539-0C86-901B-F54A-BF254F41D9D9}"/>
                </a:ext>
              </a:extLst>
            </p:cNvPr>
            <p:cNvSpPr txBox="1"/>
            <p:nvPr/>
          </p:nvSpPr>
          <p:spPr>
            <a:xfrm>
              <a:off x="5257390" y="4730656"/>
              <a:ext cx="1801762" cy="353943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egoe UI Semibold"/>
                  <a:cs typeface="Segoe UI Semibold"/>
                </a:rPr>
                <a:t>Copilot Studio</a:t>
              </a:r>
              <a:endParaRPr lang="en-US" sz="17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 Semibold"/>
                <a:cs typeface="Segoe UI Semibold"/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91C557D-26E5-3EFA-1D21-7D63F4DB5A58}"/>
                </a:ext>
              </a:extLst>
            </p:cNvPr>
            <p:cNvSpPr/>
            <p:nvPr/>
          </p:nvSpPr>
          <p:spPr bwMode="auto">
            <a:xfrm>
              <a:off x="5441875" y="5079069"/>
              <a:ext cx="1432793" cy="220725"/>
            </a:xfrm>
            <a:prstGeom prst="roundRect">
              <a:avLst>
                <a:gd name="adj" fmla="val 50000"/>
              </a:avLst>
            </a:prstGeom>
            <a:solidFill>
              <a:srgbClr val="0078D4"/>
            </a:solidFill>
            <a:ln>
              <a:noFill/>
              <a:headEnd type="none" w="med" len="med"/>
              <a:tailEnd type="none" w="med" len="med"/>
            </a:ln>
            <a:effectLst>
              <a:outerShdw blurRad="76200" sx="102000" sy="102000" algn="ctr" rotWithShape="0">
                <a:prstClr val="black">
                  <a:alpha val="17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Segoe UI" pitchFamily="34" charset="0"/>
                </a:rPr>
                <a:t>For Makers</a:t>
              </a:r>
            </a:p>
          </p:txBody>
        </p:sp>
      </p:grp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7C979F8-96F4-62AA-3BE0-EC906200F316}"/>
              </a:ext>
            </a:extLst>
          </p:cNvPr>
          <p:cNvSpPr/>
          <p:nvPr/>
        </p:nvSpPr>
        <p:spPr bwMode="auto">
          <a:xfrm>
            <a:off x="9159771" y="5768089"/>
            <a:ext cx="1397863" cy="222587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  <a:headEnd type="none" w="med" len="med"/>
            <a:tailEnd type="none" w="med" len="med"/>
          </a:ln>
          <a:effectLst>
            <a:outerShdw blurRad="76200" sx="102000" sy="102000" algn="ctr" rotWithShape="0">
              <a:prstClr val="black">
                <a:alpha val="17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+mn-ea"/>
                <a:cs typeface="Segoe UI" pitchFamily="34" charset="0"/>
              </a:rPr>
              <a:t>For Developers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442081-8CF4-CFFE-E692-43AD7468E32B}"/>
              </a:ext>
            </a:extLst>
          </p:cNvPr>
          <p:cNvSpPr txBox="1"/>
          <p:nvPr/>
        </p:nvSpPr>
        <p:spPr>
          <a:xfrm>
            <a:off x="7633375" y="4631619"/>
            <a:ext cx="3975734" cy="35394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 Semibold"/>
                <a:ea typeface="+mn-ea"/>
                <a:cs typeface="Segoe UI Semibold"/>
              </a:rPr>
              <a:t>Copilot Studio + Visual Studio/GitHub</a:t>
            </a:r>
            <a:endParaRPr lang="en-US" sz="17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C75B8F1-7304-363C-BDB3-D11ABD56237A}"/>
              </a:ext>
            </a:extLst>
          </p:cNvPr>
          <p:cNvGrpSpPr/>
          <p:nvPr/>
        </p:nvGrpSpPr>
        <p:grpSpPr>
          <a:xfrm>
            <a:off x="8168427" y="3654444"/>
            <a:ext cx="1800994" cy="991341"/>
            <a:chOff x="7632943" y="3745128"/>
            <a:chExt cx="1800994" cy="99134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9AB842B-DFB1-2DB0-1F6D-07AA3C087CCE}"/>
                </a:ext>
              </a:extLst>
            </p:cNvPr>
            <p:cNvSpPr/>
            <p:nvPr/>
          </p:nvSpPr>
          <p:spPr bwMode="auto">
            <a:xfrm>
              <a:off x="8442593" y="3745128"/>
              <a:ext cx="991344" cy="991341"/>
            </a:xfrm>
            <a:prstGeom prst="ellipse">
              <a:avLst/>
            </a:prstGeom>
            <a:solidFill>
              <a:schemeClr val="bg1">
                <a:lumMod val="95000"/>
                <a:alpha val="50000"/>
              </a:schemeClr>
            </a:solidFill>
            <a:ln w="6350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9184596-4360-375B-8F16-2303B1ACC264}"/>
                </a:ext>
              </a:extLst>
            </p:cNvPr>
            <p:cNvSpPr/>
            <p:nvPr/>
          </p:nvSpPr>
          <p:spPr bwMode="auto">
            <a:xfrm>
              <a:off x="7632943" y="3745128"/>
              <a:ext cx="991344" cy="991341"/>
            </a:xfrm>
            <a:prstGeom prst="ellipse">
              <a:avLst/>
            </a:prstGeom>
            <a:solidFill>
              <a:schemeClr val="bg1">
                <a:lumMod val="95000"/>
                <a:alpha val="50000"/>
              </a:schemeClr>
            </a:solidFill>
            <a:ln w="6350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FA64316-19C4-2D14-4D45-2DD070E697D9}"/>
                </a:ext>
              </a:extLst>
            </p:cNvPr>
            <p:cNvSpPr/>
            <p:nvPr/>
          </p:nvSpPr>
          <p:spPr bwMode="auto">
            <a:xfrm>
              <a:off x="8539922" y="3842458"/>
              <a:ext cx="796686" cy="796680"/>
            </a:xfrm>
            <a:prstGeom prst="ellipse">
              <a:avLst/>
            </a:prstGeom>
            <a:solidFill>
              <a:schemeClr val="bg1"/>
            </a:solidFill>
            <a:ln w="15875">
              <a:noFill/>
              <a:headEnd type="none" w="med" len="med"/>
              <a:tailEnd type="none" w="med" len="med"/>
            </a:ln>
            <a:effectLst>
              <a:outerShdw blurRad="279400" algn="ctr" rotWithShape="0">
                <a:prstClr val="black">
                  <a:alpha val="15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1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Segoe UI" pitchFamily="34" charset="0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017EA13-B52F-F284-B709-FCC5CD906FD5}"/>
                </a:ext>
              </a:extLst>
            </p:cNvPr>
            <p:cNvSpPr/>
            <p:nvPr/>
          </p:nvSpPr>
          <p:spPr bwMode="auto">
            <a:xfrm>
              <a:off x="7730272" y="3842458"/>
              <a:ext cx="796686" cy="796680"/>
            </a:xfrm>
            <a:prstGeom prst="ellipse">
              <a:avLst/>
            </a:prstGeom>
            <a:solidFill>
              <a:schemeClr val="bg1"/>
            </a:solidFill>
            <a:ln w="15875">
              <a:noFill/>
              <a:headEnd type="none" w="med" len="med"/>
              <a:tailEnd type="none" w="med" len="med"/>
            </a:ln>
            <a:effectLst>
              <a:outerShdw blurRad="279400" algn="ctr" rotWithShape="0">
                <a:prstClr val="black">
                  <a:alpha val="15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1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Segoe UI" pitchFamily="34" charset="0"/>
              </a:endParaRPr>
            </a:p>
          </p:txBody>
        </p:sp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F29BB339-E3A9-8B7A-D998-8BFE67C0E7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848338" y="3981137"/>
              <a:ext cx="521199" cy="521199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B0C79DFE-6411-8528-0702-A3B6FCE07F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52611" y="4022364"/>
              <a:ext cx="748219" cy="467637"/>
            </a:xfrm>
            <a:prstGeom prst="rect">
              <a:avLst/>
            </a:prstGeom>
            <a:ln w="6657" cap="flat">
              <a:noFill/>
              <a:prstDash val="solid"/>
              <a:miter/>
            </a:ln>
            <a:effectLst>
              <a:outerShdw blurRad="63500" dist="127000" dir="2700000" algn="tl" rotWithShape="0">
                <a:prstClr val="black">
                  <a:alpha val="50000"/>
                </a:prstClr>
              </a:outerShdw>
            </a:effectLst>
          </p:spPr>
        </p:pic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65471666-2380-DAE7-9D51-9D23E49D69B3}"/>
              </a:ext>
            </a:extLst>
          </p:cNvPr>
          <p:cNvSpPr txBox="1"/>
          <p:nvPr/>
        </p:nvSpPr>
        <p:spPr>
          <a:xfrm>
            <a:off x="638493" y="3958451"/>
            <a:ext cx="1016512" cy="430887"/>
          </a:xfrm>
          <a:prstGeom prst="rect">
            <a:avLst/>
          </a:prstGeom>
          <a:noFill/>
        </p:spPr>
        <p:txBody>
          <a:bodyPr wrap="square" lIns="91440" tIns="0" rIns="9144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 (Headings)"/>
                <a:ea typeface="+mn-ea"/>
                <a:cs typeface="+mn-cs"/>
              </a:rPr>
              <a:t>Natural 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 (Headings)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 (Headings)"/>
                <a:ea typeface="+mn-ea"/>
                <a:cs typeface="+mn-cs"/>
              </a:rPr>
              <a:t>Language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2B23A2-EB9B-ADD6-7CEC-A6D2F622E848}"/>
              </a:ext>
            </a:extLst>
          </p:cNvPr>
          <p:cNvSpPr txBox="1"/>
          <p:nvPr/>
        </p:nvSpPr>
        <p:spPr>
          <a:xfrm>
            <a:off x="10843076" y="3962230"/>
            <a:ext cx="715372" cy="430887"/>
          </a:xfrm>
          <a:prstGeom prst="rect">
            <a:avLst/>
          </a:prstGeom>
          <a:noFill/>
        </p:spPr>
        <p:txBody>
          <a:bodyPr wrap="square" lIns="91440" tIns="0" rIns="9144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 (Headings)"/>
                <a:ea typeface="+mn-ea"/>
                <a:cs typeface="+mn-cs"/>
              </a:rPr>
              <a:t>Code first</a:t>
            </a:r>
          </a:p>
        </p:txBody>
      </p:sp>
      <p:pic>
        <p:nvPicPr>
          <p:cNvPr id="29" name="Picture 28" descr="Image of Copilot Studio UI showing the agent building screen">
            <a:extLst>
              <a:ext uri="{FF2B5EF4-FFF2-40B4-BE49-F238E27FC236}">
                <a16:creationId xmlns:a16="http://schemas.microsoft.com/office/drawing/2014/main" id="{7C338F9D-3D84-64D8-E58B-1356854F62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901" t="2767" r="3638" b="7946"/>
          <a:stretch/>
        </p:blipFill>
        <p:spPr>
          <a:xfrm>
            <a:off x="4573483" y="1729476"/>
            <a:ext cx="3049332" cy="1783080"/>
          </a:xfrm>
          <a:prstGeom prst="rect">
            <a:avLst/>
          </a:prstGeom>
        </p:spPr>
      </p:pic>
      <p:pic>
        <p:nvPicPr>
          <p:cNvPr id="30" name="Picture 29" descr="A screenshot of a computer&#10;&#10;Description automatically generated">
            <a:extLst>
              <a:ext uri="{FF2B5EF4-FFF2-40B4-BE49-F238E27FC236}">
                <a16:creationId xmlns:a16="http://schemas.microsoft.com/office/drawing/2014/main" id="{F2DFA840-8AD1-CC12-774E-363506C7A57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18" t="9697" r="6597" b="10891"/>
          <a:stretch/>
        </p:blipFill>
        <p:spPr>
          <a:xfrm>
            <a:off x="1076071" y="1739530"/>
            <a:ext cx="3130547" cy="178308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2DDD2FA-2C02-C8EB-8110-942B4FE7812E}"/>
              </a:ext>
            </a:extLst>
          </p:cNvPr>
          <p:cNvPicPr>
            <a:picLocks/>
          </p:cNvPicPr>
          <p:nvPr/>
        </p:nvPicPr>
        <p:blipFill rotWithShape="1">
          <a:blip r:embed="rId8"/>
          <a:srcRect l="69318" t="42052" r="16185" b="31464"/>
          <a:stretch/>
        </p:blipFill>
        <p:spPr>
          <a:xfrm>
            <a:off x="7989679" y="1734793"/>
            <a:ext cx="3136392" cy="1783080"/>
          </a:xfrm>
          <a:prstGeom prst="roundRect">
            <a:avLst>
              <a:gd name="adj" fmla="val 6800"/>
            </a:avLst>
          </a:prstGeom>
          <a:effectLst>
            <a:outerShdw blurRad="76200" sx="102000" sy="102000" algn="ctr" rotWithShape="0">
              <a:prstClr val="black">
                <a:alpha val="16000"/>
              </a:prstClr>
            </a:outerShdw>
          </a:effectLst>
        </p:spPr>
      </p:pic>
      <p:sp>
        <p:nvSpPr>
          <p:cNvPr id="32" name="Oval 31">
            <a:extLst>
              <a:ext uri="{FF2B5EF4-FFF2-40B4-BE49-F238E27FC236}">
                <a16:creationId xmlns:a16="http://schemas.microsoft.com/office/drawing/2014/main" id="{2311C1B0-7585-5D29-80BB-F17CFE91DC99}"/>
              </a:ext>
            </a:extLst>
          </p:cNvPr>
          <p:cNvSpPr/>
          <p:nvPr/>
        </p:nvSpPr>
        <p:spPr bwMode="auto">
          <a:xfrm>
            <a:off x="9849632" y="3651630"/>
            <a:ext cx="991344" cy="991341"/>
          </a:xfrm>
          <a:prstGeom prst="ellipse">
            <a:avLst/>
          </a:prstGeom>
          <a:solidFill>
            <a:schemeClr val="bg1">
              <a:lumMod val="95000"/>
              <a:alpha val="50000"/>
            </a:schemeClr>
          </a:solidFill>
          <a:ln w="6350">
            <a:solidFill>
              <a:schemeClr val="bg1">
                <a:lumMod val="9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4D8CDBB-70F5-A577-28B1-655CC92C65AF}"/>
              </a:ext>
            </a:extLst>
          </p:cNvPr>
          <p:cNvSpPr/>
          <p:nvPr/>
        </p:nvSpPr>
        <p:spPr bwMode="auto">
          <a:xfrm>
            <a:off x="9946961" y="3748960"/>
            <a:ext cx="796686" cy="796680"/>
          </a:xfrm>
          <a:prstGeom prst="ellipse">
            <a:avLst/>
          </a:prstGeom>
          <a:solidFill>
            <a:schemeClr val="bg1"/>
          </a:solidFill>
          <a:ln w="15875">
            <a:noFill/>
            <a:headEnd type="none" w="med" len="med"/>
            <a:tailEnd type="none" w="med" len="med"/>
          </a:ln>
          <a:effectLst>
            <a:outerShdw blurRad="279400" algn="ctr" rotWithShape="0">
              <a:prstClr val="black">
                <a:alpha val="15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Segoe UI" pitchFamily="34" charset="0"/>
            </a:endParaRPr>
          </a:p>
        </p:txBody>
      </p:sp>
      <p:pic>
        <p:nvPicPr>
          <p:cNvPr id="34" name="Picture 33" descr="A black cat in a circle&#10;&#10;Description automatically generated">
            <a:extLst>
              <a:ext uri="{FF2B5EF4-FFF2-40B4-BE49-F238E27FC236}">
                <a16:creationId xmlns:a16="http://schemas.microsoft.com/office/drawing/2014/main" id="{4EA454A4-1000-137D-D92A-00FC1D85CDC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81811" y="3898068"/>
            <a:ext cx="492674" cy="520561"/>
          </a:xfrm>
          <a:prstGeom prst="rect">
            <a:avLst/>
          </a:prstGeom>
        </p:spPr>
      </p:pic>
      <p:pic>
        <p:nvPicPr>
          <p:cNvPr id="35" name="Picture 34" descr="A colorful hexagon with stars&#10;&#10;Description automatically generated">
            <a:extLst>
              <a:ext uri="{FF2B5EF4-FFF2-40B4-BE49-F238E27FC236}">
                <a16:creationId xmlns:a16="http://schemas.microsoft.com/office/drawing/2014/main" id="{53F94743-A86D-6A8B-A852-DB841B2D93D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2532" y="5344333"/>
            <a:ext cx="306373" cy="30637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C5DB3B1-2777-81B4-9A48-5CA6D8DF2B86}"/>
              </a:ext>
            </a:extLst>
          </p:cNvPr>
          <p:cNvSpPr txBox="1"/>
          <p:nvPr/>
        </p:nvSpPr>
        <p:spPr>
          <a:xfrm>
            <a:off x="8891589" y="5381955"/>
            <a:ext cx="1991412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 Semibold"/>
                <a:cs typeface="Segoe UI Semibold"/>
              </a:rPr>
              <a:t>Foundry AI Agent Service</a:t>
            </a:r>
          </a:p>
        </p:txBody>
      </p:sp>
      <p:pic>
        <p:nvPicPr>
          <p:cNvPr id="37" name="Picture 4" descr="Semantic Kernel's new icon and the art of teamwork ...">
            <a:extLst>
              <a:ext uri="{FF2B5EF4-FFF2-40B4-BE49-F238E27FC236}">
                <a16:creationId xmlns:a16="http://schemas.microsoft.com/office/drawing/2014/main" id="{D39C08E5-CA8A-108A-4D77-E7244688B7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4099" y="5038181"/>
            <a:ext cx="250086" cy="250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150F5CD-3A9E-EA47-5BEC-E8DDEC70E0AE}"/>
              </a:ext>
            </a:extLst>
          </p:cNvPr>
          <p:cNvSpPr txBox="1"/>
          <p:nvPr/>
        </p:nvSpPr>
        <p:spPr>
          <a:xfrm>
            <a:off x="8905021" y="5008026"/>
            <a:ext cx="1991412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 Semibold"/>
                <a:cs typeface="Segoe UI Semibold"/>
              </a:rPr>
              <a:t>Semantic Kernel</a:t>
            </a:r>
          </a:p>
        </p:txBody>
      </p:sp>
    </p:spTree>
    <p:extLst>
      <p:ext uri="{BB962C8B-B14F-4D97-AF65-F5344CB8AC3E}">
        <p14:creationId xmlns:p14="http://schemas.microsoft.com/office/powerpoint/2010/main" val="44426149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00618-5B1B-86E9-2A0F-99E79861A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CAAA-E5B0-1876-2B58-A73AB3B83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2" y="336499"/>
            <a:ext cx="0" cy="0"/>
          </a:xfrm>
        </p:spPr>
        <p:txBody>
          <a:bodyPr/>
          <a:lstStyle/>
          <a:p>
            <a:endParaRPr lang="en-DE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8D3CE47-3E76-A8A6-A072-D26FE751935F}"/>
              </a:ext>
            </a:extLst>
          </p:cNvPr>
          <p:cNvSpPr/>
          <p:nvPr/>
        </p:nvSpPr>
        <p:spPr bwMode="auto">
          <a:xfrm>
            <a:off x="741674" y="1206500"/>
            <a:ext cx="10706039" cy="5010150"/>
          </a:xfrm>
          <a:prstGeom prst="roundRect">
            <a:avLst>
              <a:gd name="adj" fmla="val 1506"/>
            </a:avLst>
          </a:prstGeom>
          <a:solidFill>
            <a:srgbClr val="FFFFFF">
              <a:lumMod val="95000"/>
            </a:srgbClr>
          </a:solidFill>
          <a:ln w="22225" cap="flat" cmpd="sng" algn="ctr">
            <a:noFill/>
            <a:prstDash val="solid"/>
            <a:headEnd type="none" w="med" len="med"/>
            <a:tailEnd type="none" w="med" len="med"/>
          </a:ln>
          <a:effectLst>
            <a:outerShdw blurRad="203200" sx="102000" sy="102000" algn="ctr" rotWithShape="0">
              <a:prstClr val="black">
                <a:alpha val="18000"/>
              </a:prstClr>
            </a:outerShdw>
          </a:effectLst>
        </p:spPr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0410094-E8E2-457B-ABDD-652F6BAB4096}"/>
              </a:ext>
            </a:extLst>
          </p:cNvPr>
          <p:cNvGrpSpPr/>
          <p:nvPr/>
        </p:nvGrpSpPr>
        <p:grpSpPr>
          <a:xfrm>
            <a:off x="2361546" y="647076"/>
            <a:ext cx="7466293" cy="1055131"/>
            <a:chOff x="1739899" y="595806"/>
            <a:chExt cx="8712200" cy="121859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90E4C5E-A7B0-CAEA-436C-CAF91D2F6E03}"/>
                </a:ext>
              </a:extLst>
            </p:cNvPr>
            <p:cNvSpPr txBox="1"/>
            <p:nvPr/>
          </p:nvSpPr>
          <p:spPr>
            <a:xfrm>
              <a:off x="1739899" y="595806"/>
              <a:ext cx="8712200" cy="121859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6350" cap="flat" cmpd="sng" algn="ctr">
              <a:solidFill>
                <a:srgbClr val="FFFFFF">
                  <a:lumMod val="75000"/>
                </a:srgbClr>
              </a:solidFill>
              <a:prstDash val="solid"/>
              <a:headEnd type="none" w="lg" len="med"/>
              <a:tailEnd type="none" w="lg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R="0" lvl="0" indent="0" defTabSz="932472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2000" b="0" i="0" u="none" strike="noStrike" cap="none" spc="0" normalizeH="0" baseline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defRPr>
              </a:lvl1pPr>
              <a:lvl2pPr>
                <a:defRPr>
                  <a:solidFill>
                    <a:schemeClr val="tx1"/>
                  </a:solidFill>
                </a:defRPr>
              </a:lvl2pPr>
              <a:lvl3pPr>
                <a:defRPr>
                  <a:solidFill>
                    <a:schemeClr val="tx1"/>
                  </a:solidFill>
                </a:defRPr>
              </a:lvl3pPr>
              <a:lvl4pPr>
                <a:defRPr>
                  <a:solidFill>
                    <a:schemeClr val="tx1"/>
                  </a:solidFill>
                </a:defRPr>
              </a:lvl4pPr>
              <a:lvl5pPr>
                <a:defRPr>
                  <a:solidFill>
                    <a:schemeClr val="tx1"/>
                  </a:solidFill>
                </a:defRPr>
              </a:lvl5pPr>
              <a:lvl6pPr>
                <a:defRPr>
                  <a:solidFill>
                    <a:schemeClr val="tx1"/>
                  </a:solidFill>
                </a:defRPr>
              </a:lvl6pPr>
              <a:lvl7pPr>
                <a:defRPr>
                  <a:solidFill>
                    <a:schemeClr val="tx1"/>
                  </a:solidFill>
                </a:defRPr>
              </a:lvl7pPr>
              <a:lvl8pPr>
                <a:defRPr>
                  <a:solidFill>
                    <a:schemeClr val="tx1"/>
                  </a:solidFill>
                </a:defRPr>
              </a:lvl8pPr>
              <a:lvl9pPr>
                <a:defRPr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Variable Small" pitchFamily="2" charset="0"/>
                <a:cs typeface="Segoe UI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3F2272E-EEDF-4BB4-163F-E4F5472E03A8}"/>
                </a:ext>
              </a:extLst>
            </p:cNvPr>
            <p:cNvSpPr txBox="1"/>
            <p:nvPr/>
          </p:nvSpPr>
          <p:spPr>
            <a:xfrm>
              <a:off x="1866899" y="691540"/>
              <a:ext cx="8458201" cy="102712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75000"/>
              </a:srgbClr>
            </a:solidFill>
            <a:ln w="15875" cap="flat" cmpd="sng" algn="ctr">
              <a:noFill/>
              <a:prstDash val="solid"/>
              <a:headEnd type="none" w="med" len="med"/>
              <a:tailEnd type="none" w="med" len="med"/>
            </a:ln>
            <a:effectLst>
              <a:outerShdw blurRad="279400" algn="ctr" rotWithShape="0">
                <a:prstClr val="black">
                  <a:alpha val="15000"/>
                </a:prstClr>
              </a:outerShdw>
            </a:effectLst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R="0" lvl="0" indent="0" defTabSz="932472" fontAlgn="base">
                <a:lnSpc>
                  <a:spcPct val="11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2000" b="0" i="0" u="none" strike="noStrike" cap="none" spc="0" normalizeH="0" baseline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/>
                  <a:cs typeface="Segoe UI" pitchFamily="34" charset="0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pPr marL="0" marR="0" lvl="0" indent="0" algn="ctr" defTabSz="932472" rtl="0" eaLnBrk="1" fontAlgn="base" latinLnBrk="0" hangingPunct="1">
                <a:lnSpc>
                  <a:spcPct val="11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0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Segoe Sans Text Semibold" pitchFamily="2" charset="0"/>
                  <a:ea typeface="+mn-ea"/>
                  <a:cs typeface="Segoe Sans Text Semibold" pitchFamily="2" charset="0"/>
                </a:rPr>
                <a:t>	Copilot Studio</a:t>
              </a: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E91B4E66-6AC8-4855-1FA6-E880B85525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72283" y="857142"/>
            <a:ext cx="635000" cy="6350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E966BD5-4E0E-3C54-CAE4-6662D767870B}"/>
              </a:ext>
            </a:extLst>
          </p:cNvPr>
          <p:cNvSpPr txBox="1"/>
          <p:nvPr/>
        </p:nvSpPr>
        <p:spPr>
          <a:xfrm>
            <a:off x="1025520" y="1968672"/>
            <a:ext cx="10086980" cy="4032186"/>
          </a:xfrm>
          <a:prstGeom prst="roundRect">
            <a:avLst>
              <a:gd name="adj" fmla="val 5592"/>
            </a:avLst>
          </a:prstGeom>
          <a:solidFill>
            <a:srgbClr val="FFFFFF">
              <a:alpha val="75000"/>
            </a:srgbClr>
          </a:solidFill>
          <a:ln w="15875" cap="flat" cmpd="sng" algn="ctr">
            <a:noFill/>
            <a:prstDash val="solid"/>
            <a:headEnd type="none" w="med" len="med"/>
            <a:tailEnd type="none" w="med" len="med"/>
          </a:ln>
          <a:effectLst>
            <a:outerShdw blurRad="279400" algn="ctr" rotWithShape="0">
              <a:prstClr val="black">
                <a:alpha val="15000"/>
              </a:prstClr>
            </a:outerShdw>
          </a:effectLst>
        </p:spPr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R="0" lvl="0" indent="0" defTabSz="932472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cs typeface="Segoe UI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+mn-ea"/>
              <a:cs typeface="Segoe UI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3A738-D8CB-26BC-FCCD-0F27E38AC25B}"/>
              </a:ext>
            </a:extLst>
          </p:cNvPr>
          <p:cNvSpPr/>
          <p:nvPr/>
        </p:nvSpPr>
        <p:spPr bwMode="auto">
          <a:xfrm>
            <a:off x="5334931" y="2456222"/>
            <a:ext cx="5405705" cy="3057086"/>
          </a:xfrm>
          <a:prstGeom prst="roundRect">
            <a:avLst>
              <a:gd name="adj" fmla="val 4748"/>
            </a:avLst>
          </a:prstGeom>
          <a:blipFill>
            <a:blip r:embed="rId4"/>
            <a:stretch>
              <a:fillRect/>
            </a:stretch>
          </a:blipFill>
          <a:ln w="9525" cap="flat" cmpd="sng" algn="ctr">
            <a:noFill/>
            <a:prstDash val="solid"/>
            <a:headEnd type="none" w="med" len="med"/>
            <a:tailEnd type="none" w="med" len="med"/>
          </a:ln>
          <a:effectLst>
            <a:outerShdw blurRad="63500" sx="101000" sy="101000" algn="ctr" rotWithShape="0">
              <a:prstClr val="black">
                <a:alpha val="12000"/>
              </a:prstClr>
            </a:outerShdw>
          </a:effectLst>
        </p:spPr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B72B57C2-5583-94F7-7880-27A5F65ABE15}"/>
              </a:ext>
            </a:extLst>
          </p:cNvPr>
          <p:cNvSpPr txBox="1">
            <a:spLocks/>
          </p:cNvSpPr>
          <p:nvPr/>
        </p:nvSpPr>
        <p:spPr>
          <a:xfrm>
            <a:off x="1451364" y="2464379"/>
            <a:ext cx="3548354" cy="3051285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-50" normalizeH="0" baseline="0" noProof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Copilot Studio is an end-to-end conversational AI platform for </a:t>
            </a:r>
            <a:r>
              <a:rPr kumimoji="0" lang="en-US" sz="2400" b="1" i="0" u="none" strike="noStrike" kern="1200" cap="none" spc="-50" normalizeH="0" baseline="0" noProof="0">
                <a:ln w="3175">
                  <a:noFill/>
                </a:ln>
                <a:solidFill>
                  <a:srgbClr val="0078D4"/>
                </a:solidFill>
                <a:effectLst/>
                <a:uLnTx/>
                <a:uFillTx/>
                <a:latin typeface="Segoe UI Semibold"/>
                <a:ea typeface="+mn-ea"/>
                <a:cs typeface="Segoe UI"/>
              </a:rPr>
              <a:t>extending Microsoft Copilot </a:t>
            </a:r>
            <a:r>
              <a:rPr kumimoji="0" lang="en-US" sz="2400" b="0" i="0" u="none" strike="noStrike" kern="1200" cap="none" spc="-50" normalizeH="0" baseline="0" noProof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or</a:t>
            </a:r>
            <a:r>
              <a:rPr kumimoji="0" lang="en-US" sz="2400" b="0" i="0" u="none" strike="noStrike" kern="1200" cap="none" spc="-50" normalizeH="0" baseline="0" noProof="0">
                <a:ln w="3175">
                  <a:noFill/>
                </a:ln>
                <a:solidFill>
                  <a:srgbClr val="0078D4"/>
                </a:solidFill>
                <a:effectLst/>
                <a:uLnTx/>
                <a:uFillTx/>
                <a:latin typeface="Segoe UI Semibold"/>
                <a:ea typeface="+mn-ea"/>
                <a:cs typeface="Segoe UI"/>
              </a:rPr>
              <a:t> </a:t>
            </a:r>
            <a:r>
              <a:rPr kumimoji="0" lang="en-US" sz="2400" b="1" i="0" u="none" strike="noStrike" kern="1200" cap="none" spc="-50" normalizeH="0" baseline="0" noProof="0">
                <a:ln w="3175">
                  <a:noFill/>
                </a:ln>
                <a:solidFill>
                  <a:srgbClr val="0078D4"/>
                </a:solidFill>
                <a:effectLst/>
                <a:uLnTx/>
                <a:uFillTx/>
                <a:latin typeface="Segoe UI Semibold"/>
                <a:ea typeface="+mn-ea"/>
                <a:cs typeface="Segoe UI"/>
              </a:rPr>
              <a:t>building your own copilot </a:t>
            </a:r>
            <a:r>
              <a:rPr kumimoji="0" lang="en-US" sz="2400" b="0" i="0" u="none" strike="noStrike" kern="1200" cap="none" spc="-50" normalizeH="0" baseline="0" noProof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experiences with generative AI and large language models. </a:t>
            </a:r>
            <a:endParaRPr kumimoji="0" lang="en-US" sz="3600" b="0" i="0" u="none" strike="noStrike" kern="1200" cap="none" spc="-50" normalizeH="0" baseline="0" noProof="0">
              <a:ln w="3175"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+mn-ea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6616678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grpId="1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3.54167E-6 1.48148E-6 L 3.54167E-6 0.03542 " pathEditMode="relative" rAng="0" ptsTypes="AA">
                                      <p:cBhvr>
                                        <p:cTn id="9" dur="7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6ED2B-9BBD-50EA-5590-C1E2F4C27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32F641-63D9-8432-0727-9AB6873020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1838" y="2079408"/>
            <a:ext cx="7402511" cy="825180"/>
          </a:xfrm>
        </p:spPr>
        <p:txBody>
          <a:bodyPr/>
          <a:lstStyle/>
          <a:p>
            <a:r>
              <a:rPr lang="en-US" dirty="0"/>
              <a:t>Please use the following users</a:t>
            </a:r>
            <a:endParaRPr lang="en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21F32F-63CA-2D12-1119-422FD72413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821609-56DC-994E-17B4-06549DF50ECE}"/>
              </a:ext>
            </a:extLst>
          </p:cNvPr>
          <p:cNvSpPr txBox="1"/>
          <p:nvPr/>
        </p:nvSpPr>
        <p:spPr>
          <a:xfrm>
            <a:off x="622123" y="3425155"/>
            <a:ext cx="1063597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User: 1 – 30</a:t>
            </a:r>
          </a:p>
          <a:p>
            <a:pPr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SAP Backen</a:t>
            </a:r>
            <a:r>
              <a:rPr lang="en-US" sz="4400" dirty="0">
                <a:solidFill>
                  <a:schemeClr val="bg1"/>
                </a:solidFill>
              </a:rPr>
              <a:t>d: </a:t>
            </a:r>
            <a:r>
              <a:rPr lang="en-US" sz="4400" dirty="0" err="1">
                <a:solidFill>
                  <a:schemeClr val="bg1"/>
                </a:solidFill>
              </a:rPr>
              <a:t>userX</a:t>
            </a:r>
            <a:endParaRPr lang="en-US" sz="4400" dirty="0">
              <a:solidFill>
                <a:schemeClr val="bg1"/>
              </a:solidFill>
            </a:endParaRPr>
          </a:p>
          <a:p>
            <a:pPr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Entra</a:t>
            </a:r>
            <a:r>
              <a:rPr lang="en-US" sz="4400" dirty="0">
                <a:solidFill>
                  <a:schemeClr val="bg1"/>
                </a:solidFill>
              </a:rPr>
              <a:t>: userX@bestruncorp.onmicrosoft.com</a:t>
            </a:r>
          </a:p>
        </p:txBody>
      </p:sp>
    </p:spTree>
    <p:extLst>
      <p:ext uri="{BB962C8B-B14F-4D97-AF65-F5344CB8AC3E}">
        <p14:creationId xmlns:p14="http://schemas.microsoft.com/office/powerpoint/2010/main" val="3546765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3C335-387E-4840-2D75-93765132B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90A50C-3463-D9BB-0C62-8F8333322B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11" name="Picture 10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B3ADFFB0-BF43-1A50-6591-664686B599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2408" y="1132511"/>
            <a:ext cx="4762500" cy="47625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D4AF1C3-B8E8-AE37-0E9B-678E09798CBA}"/>
              </a:ext>
            </a:extLst>
          </p:cNvPr>
          <p:cNvSpPr txBox="1"/>
          <p:nvPr/>
        </p:nvSpPr>
        <p:spPr>
          <a:xfrm>
            <a:off x="4075096" y="5717554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H02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834889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DF2DA-4964-C2E2-1883-A860DA2BD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E3D10B-81C7-10E8-8849-4CB7158B76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1838" y="2079408"/>
            <a:ext cx="7402511" cy="825180"/>
          </a:xfrm>
        </p:spPr>
        <p:txBody>
          <a:bodyPr/>
          <a:lstStyle/>
          <a:p>
            <a:r>
              <a:rPr lang="en-US" dirty="0"/>
              <a:t>Please use the following users</a:t>
            </a:r>
            <a:endParaRPr lang="en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8C2C60-61F7-4486-8FDE-91BA3A35F81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C6515C-343B-052F-B942-0A09D4DC758F}"/>
              </a:ext>
            </a:extLst>
          </p:cNvPr>
          <p:cNvSpPr txBox="1"/>
          <p:nvPr/>
        </p:nvSpPr>
        <p:spPr>
          <a:xfrm>
            <a:off x="622123" y="3425155"/>
            <a:ext cx="1063597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User: 81 – 110</a:t>
            </a:r>
          </a:p>
          <a:p>
            <a:pPr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SAP Backen</a:t>
            </a:r>
            <a:r>
              <a:rPr lang="en-US" sz="4400" dirty="0">
                <a:solidFill>
                  <a:schemeClr val="bg1"/>
                </a:solidFill>
              </a:rPr>
              <a:t>d: </a:t>
            </a:r>
            <a:r>
              <a:rPr lang="en-US" sz="4400" dirty="0" err="1">
                <a:solidFill>
                  <a:schemeClr val="bg1"/>
                </a:solidFill>
              </a:rPr>
              <a:t>userX</a:t>
            </a:r>
            <a:endParaRPr lang="en-US" sz="4400" dirty="0">
              <a:solidFill>
                <a:schemeClr val="bg1"/>
              </a:solidFill>
            </a:endParaRPr>
          </a:p>
          <a:p>
            <a:pPr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Entra</a:t>
            </a:r>
            <a:r>
              <a:rPr lang="en-US" sz="4400" dirty="0">
                <a:solidFill>
                  <a:schemeClr val="bg1"/>
                </a:solidFill>
              </a:rPr>
              <a:t>: userX@bestruncorp.onmicrosoft.com</a:t>
            </a:r>
          </a:p>
        </p:txBody>
      </p:sp>
    </p:spTree>
    <p:extLst>
      <p:ext uri="{BB962C8B-B14F-4D97-AF65-F5344CB8AC3E}">
        <p14:creationId xmlns:p14="http://schemas.microsoft.com/office/powerpoint/2010/main" val="22267613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5C1FBC5-EA36-C956-DDC8-261AA2D09C2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13" name="Picture 12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F5A0537C-8E83-9F50-4062-6D9366FD04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6509" y="1047750"/>
            <a:ext cx="4762500" cy="47625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E074AC9-C62F-61DA-E91E-03E121B734FD}"/>
              </a:ext>
            </a:extLst>
          </p:cNvPr>
          <p:cNvSpPr txBox="1"/>
          <p:nvPr/>
        </p:nvSpPr>
        <p:spPr>
          <a:xfrm>
            <a:off x="3733589" y="5640973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H22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8594154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220B7-981F-A10B-FB8D-4207D3A50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6BEA36-632A-58FE-EE29-67A5913B5E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1838" y="2079408"/>
            <a:ext cx="7402511" cy="1286845"/>
          </a:xfrm>
        </p:spPr>
        <p:txBody>
          <a:bodyPr/>
          <a:lstStyle/>
          <a:p>
            <a:r>
              <a:rPr lang="en-US" dirty="0"/>
              <a:t>Copilot Studio &amp; SAP: Building Autonomous Agents</a:t>
            </a:r>
            <a:endParaRPr lang="en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1788BA-393D-6413-66F1-9A20A72D127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45728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A167A-5B4A-B299-2D68-1F78D8CB2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Meeting you where you are in your Agent building journey</a:t>
            </a:r>
            <a:endParaRPr lang="en-DE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EA56024-8FFF-F966-98DF-818C32637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/>
        </p:nvSpPr>
        <p:spPr bwMode="auto">
          <a:xfrm>
            <a:off x="404074" y="1225007"/>
            <a:ext cx="11383851" cy="5228189"/>
          </a:xfrm>
          <a:prstGeom prst="roundRect">
            <a:avLst>
              <a:gd name="adj" fmla="val 5361"/>
            </a:avLst>
          </a:prstGeom>
          <a:solidFill>
            <a:srgbClr val="454142">
              <a:alpha val="75000"/>
            </a:srgbClr>
          </a:solidFill>
          <a:ln w="15875">
            <a:noFill/>
            <a:headEnd type="none" w="med" len="med"/>
            <a:tailEnd type="none" w="med" len="med"/>
          </a:ln>
          <a:effectLst>
            <a:outerShdw blurRad="279400" algn="ctr" rotWithShape="0">
              <a:prstClr val="black">
                <a:alpha val="15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+mn-ea"/>
              <a:cs typeface="Segoe UI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F5582DE-03FA-ECF6-ECA5-823B1052CC49}"/>
              </a:ext>
            </a:extLst>
          </p:cNvPr>
          <p:cNvSpPr/>
          <p:nvPr/>
        </p:nvSpPr>
        <p:spPr bwMode="auto">
          <a:xfrm>
            <a:off x="568664" y="3912284"/>
            <a:ext cx="11049399" cy="523220"/>
          </a:xfrm>
          <a:prstGeom prst="roundRect">
            <a:avLst>
              <a:gd name="adj" fmla="val 50000"/>
            </a:avLst>
          </a:prstGeom>
          <a:gradFill>
            <a:gsLst>
              <a:gs pos="100000">
                <a:srgbClr val="286BD1"/>
              </a:gs>
              <a:gs pos="0">
                <a:srgbClr val="00B0F0"/>
              </a:gs>
            </a:gsLst>
            <a:lin ang="0" scaled="0"/>
          </a:gradFill>
          <a:ln w="9525" cap="flat" cmpd="sng" algn="ctr">
            <a:noFill/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E286611-7464-B369-735A-BB62D4F03A03}"/>
              </a:ext>
            </a:extLst>
          </p:cNvPr>
          <p:cNvGrpSpPr/>
          <p:nvPr/>
        </p:nvGrpSpPr>
        <p:grpSpPr>
          <a:xfrm>
            <a:off x="1741850" y="3659525"/>
            <a:ext cx="1801554" cy="1544156"/>
            <a:chOff x="1961525" y="3785458"/>
            <a:chExt cx="1801554" cy="154415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8330129-485B-AF41-7234-6303036F5F1F}"/>
                </a:ext>
              </a:extLst>
            </p:cNvPr>
            <p:cNvSpPr/>
            <p:nvPr/>
          </p:nvSpPr>
          <p:spPr bwMode="auto">
            <a:xfrm>
              <a:off x="2366630" y="3785458"/>
              <a:ext cx="991344" cy="991341"/>
            </a:xfrm>
            <a:prstGeom prst="ellipse">
              <a:avLst/>
            </a:prstGeom>
            <a:solidFill>
              <a:schemeClr val="bg1">
                <a:lumMod val="95000"/>
                <a:alpha val="50000"/>
              </a:schemeClr>
            </a:solidFill>
            <a:ln w="6350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781A5A6-151E-A151-96AB-7DF966F5ABEB}"/>
                </a:ext>
              </a:extLst>
            </p:cNvPr>
            <p:cNvSpPr/>
            <p:nvPr/>
          </p:nvSpPr>
          <p:spPr bwMode="auto">
            <a:xfrm>
              <a:off x="2463959" y="3882788"/>
              <a:ext cx="796686" cy="796680"/>
            </a:xfrm>
            <a:prstGeom prst="ellipse">
              <a:avLst/>
            </a:prstGeom>
            <a:solidFill>
              <a:schemeClr val="bg1"/>
            </a:solidFill>
            <a:ln w="15875">
              <a:noFill/>
              <a:headEnd type="none" w="med" len="med"/>
              <a:tailEnd type="none" w="med" len="med"/>
            </a:ln>
            <a:effectLst>
              <a:outerShdw blurRad="279400" algn="ctr" rotWithShape="0">
                <a:prstClr val="black">
                  <a:alpha val="15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1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Segoe UI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64E6391-C515-778B-8A71-701058D41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23" b="2923"/>
            <a:stretch/>
          </p:blipFill>
          <p:spPr>
            <a:xfrm>
              <a:off x="2592878" y="4026167"/>
              <a:ext cx="538849" cy="507350"/>
            </a:xfrm>
            <a:prstGeom prst="rect">
              <a:avLst/>
            </a:prstGeom>
            <a:ln w="7441" cap="flat">
              <a:noFill/>
              <a:prstDash val="solid"/>
              <a:miter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9EAF3487-582C-8347-105E-862682DFB3DE}"/>
                </a:ext>
              </a:extLst>
            </p:cNvPr>
            <p:cNvSpPr/>
            <p:nvPr/>
          </p:nvSpPr>
          <p:spPr bwMode="auto">
            <a:xfrm>
              <a:off x="2163371" y="5107027"/>
              <a:ext cx="1397863" cy="222587"/>
            </a:xfrm>
            <a:prstGeom prst="roundRect">
              <a:avLst>
                <a:gd name="adj" fmla="val 50000"/>
              </a:avLst>
            </a:prstGeom>
            <a:solidFill>
              <a:srgbClr val="0078D4"/>
            </a:solidFill>
            <a:ln>
              <a:noFill/>
              <a:headEnd type="none" w="med" len="med"/>
              <a:tailEnd type="none" w="med" len="med"/>
            </a:ln>
            <a:effectLst>
              <a:outerShdw blurRad="76200" sx="102000" sy="102000" algn="ctr" rotWithShape="0">
                <a:prstClr val="black">
                  <a:alpha val="17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Segoe UI" pitchFamily="34" charset="0"/>
                  <a:cs typeface="Segoe UI" pitchFamily="34" charset="0"/>
                </a:rPr>
                <a:t>For End Users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F0DAFCD-3060-C1F0-16B7-E4EDE4A0E9DA}"/>
                </a:ext>
              </a:extLst>
            </p:cNvPr>
            <p:cNvSpPr txBox="1"/>
            <p:nvPr/>
          </p:nvSpPr>
          <p:spPr>
            <a:xfrm>
              <a:off x="1961525" y="4755450"/>
              <a:ext cx="1801554" cy="353943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egoe UI Semibold"/>
                  <a:cs typeface="Segoe UI Semibold"/>
                </a:rPr>
                <a:t>Agent builder</a:t>
              </a:r>
              <a:endParaRPr lang="en-US" sz="17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 Semibold"/>
                <a:cs typeface="Segoe UI Semibold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9AF2AD6-735D-9BE9-E577-96620785395E}"/>
              </a:ext>
            </a:extLst>
          </p:cNvPr>
          <p:cNvGrpSpPr/>
          <p:nvPr/>
        </p:nvGrpSpPr>
        <p:grpSpPr>
          <a:xfrm>
            <a:off x="5198288" y="3669829"/>
            <a:ext cx="1801762" cy="1523548"/>
            <a:chOff x="5257390" y="3776246"/>
            <a:chExt cx="1801762" cy="152354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93E3FF4-6AA6-EE65-EB8D-E8560967D545}"/>
                </a:ext>
              </a:extLst>
            </p:cNvPr>
            <p:cNvGrpSpPr/>
            <p:nvPr/>
          </p:nvGrpSpPr>
          <p:grpSpPr>
            <a:xfrm>
              <a:off x="5662599" y="3776246"/>
              <a:ext cx="991344" cy="991341"/>
              <a:chOff x="3031090" y="2734209"/>
              <a:chExt cx="752625" cy="752623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FDD2F23-AC89-7797-9869-07C03F6EAF6A}"/>
                  </a:ext>
                </a:extLst>
              </p:cNvPr>
              <p:cNvSpPr/>
              <p:nvPr/>
            </p:nvSpPr>
            <p:spPr bwMode="auto">
              <a:xfrm>
                <a:off x="3031090" y="2734209"/>
                <a:ext cx="752625" cy="752623"/>
              </a:xfrm>
              <a:prstGeom prst="ellipse">
                <a:avLst/>
              </a:prstGeom>
              <a:solidFill>
                <a:schemeClr val="bg1">
                  <a:lumMod val="95000"/>
                  <a:alpha val="50000"/>
                </a:schemeClr>
              </a:solidFill>
              <a:ln w="6350">
                <a:solidFill>
                  <a:schemeClr val="bg1">
                    <a:lumMod val="9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32472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ADDF74B8-EF7D-9124-C911-9B45EC1BD9AF}"/>
                  </a:ext>
                </a:extLst>
              </p:cNvPr>
              <p:cNvSpPr/>
              <p:nvPr/>
            </p:nvSpPr>
            <p:spPr bwMode="auto">
              <a:xfrm>
                <a:off x="3104982" y="2808102"/>
                <a:ext cx="604841" cy="604837"/>
              </a:xfrm>
              <a:prstGeom prst="ellipse">
                <a:avLst/>
              </a:prstGeom>
              <a:solidFill>
                <a:schemeClr val="bg1"/>
              </a:solidFill>
              <a:ln w="15875">
                <a:noFill/>
                <a:headEnd type="none" w="med" len="med"/>
                <a:tailEnd type="none" w="med" len="med"/>
              </a:ln>
              <a:effectLst>
                <a:outerShdw blurRad="279400" algn="ctr" rotWithShape="0">
                  <a:prstClr val="black">
                    <a:alpha val="15000"/>
                  </a:prstClr>
                </a:outerShdw>
              </a:effectLst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32472" rtl="0" eaLnBrk="1" fontAlgn="base" latinLnBrk="0" hangingPunct="1">
                  <a:lnSpc>
                    <a:spcPct val="11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Segoe UI" pitchFamily="34" charset="0"/>
                </a:endParaRPr>
              </a:p>
            </p:txBody>
          </p:sp>
        </p:grp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B1CE7E7A-9F57-8225-23A5-345CC9207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897672" y="4004485"/>
              <a:ext cx="521199" cy="521199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EF9F539-0C86-901B-F54A-BF254F41D9D9}"/>
                </a:ext>
              </a:extLst>
            </p:cNvPr>
            <p:cNvSpPr txBox="1"/>
            <p:nvPr/>
          </p:nvSpPr>
          <p:spPr>
            <a:xfrm>
              <a:off x="5257390" y="4730656"/>
              <a:ext cx="1801762" cy="353943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egoe UI Semibold"/>
                  <a:cs typeface="Segoe UI Semibold"/>
                </a:rPr>
                <a:t>Copilot Studio</a:t>
              </a:r>
              <a:endParaRPr lang="en-US" sz="17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 Semibold"/>
                <a:cs typeface="Segoe UI Semibold"/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91C557D-26E5-3EFA-1D21-7D63F4DB5A58}"/>
                </a:ext>
              </a:extLst>
            </p:cNvPr>
            <p:cNvSpPr/>
            <p:nvPr/>
          </p:nvSpPr>
          <p:spPr bwMode="auto">
            <a:xfrm>
              <a:off x="5441875" y="5079069"/>
              <a:ext cx="1432793" cy="220725"/>
            </a:xfrm>
            <a:prstGeom prst="roundRect">
              <a:avLst>
                <a:gd name="adj" fmla="val 50000"/>
              </a:avLst>
            </a:prstGeom>
            <a:solidFill>
              <a:srgbClr val="0078D4"/>
            </a:solidFill>
            <a:ln>
              <a:noFill/>
              <a:headEnd type="none" w="med" len="med"/>
              <a:tailEnd type="none" w="med" len="med"/>
            </a:ln>
            <a:effectLst>
              <a:outerShdw blurRad="76200" sx="102000" sy="102000" algn="ctr" rotWithShape="0">
                <a:prstClr val="black">
                  <a:alpha val="17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Semibold"/>
                  <a:ea typeface="+mn-ea"/>
                  <a:cs typeface="Segoe UI" pitchFamily="34" charset="0"/>
                </a:rPr>
                <a:t>For Makers</a:t>
              </a:r>
            </a:p>
          </p:txBody>
        </p:sp>
      </p:grp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7C979F8-96F4-62AA-3BE0-EC906200F316}"/>
              </a:ext>
            </a:extLst>
          </p:cNvPr>
          <p:cNvSpPr/>
          <p:nvPr/>
        </p:nvSpPr>
        <p:spPr bwMode="auto">
          <a:xfrm>
            <a:off x="9159771" y="5768089"/>
            <a:ext cx="1397863" cy="222587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  <a:headEnd type="none" w="med" len="med"/>
            <a:tailEnd type="none" w="med" len="med"/>
          </a:ln>
          <a:effectLst>
            <a:outerShdw blurRad="76200" sx="102000" sy="102000" algn="ctr" rotWithShape="0">
              <a:prstClr val="black">
                <a:alpha val="17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+mn-ea"/>
                <a:cs typeface="Segoe UI" pitchFamily="34" charset="0"/>
              </a:rPr>
              <a:t>For Developers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442081-8CF4-CFFE-E692-43AD7468E32B}"/>
              </a:ext>
            </a:extLst>
          </p:cNvPr>
          <p:cNvSpPr txBox="1"/>
          <p:nvPr/>
        </p:nvSpPr>
        <p:spPr>
          <a:xfrm>
            <a:off x="7633375" y="4631619"/>
            <a:ext cx="3975734" cy="35394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 Semibold"/>
                <a:ea typeface="+mn-ea"/>
                <a:cs typeface="Segoe UI Semibold"/>
              </a:rPr>
              <a:t>Copilot Studio + Visual Studio/GitHub</a:t>
            </a:r>
            <a:endParaRPr lang="en-US" sz="17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C75B8F1-7304-363C-BDB3-D11ABD56237A}"/>
              </a:ext>
            </a:extLst>
          </p:cNvPr>
          <p:cNvGrpSpPr/>
          <p:nvPr/>
        </p:nvGrpSpPr>
        <p:grpSpPr>
          <a:xfrm>
            <a:off x="8168427" y="3654444"/>
            <a:ext cx="1800994" cy="991341"/>
            <a:chOff x="7632943" y="3745128"/>
            <a:chExt cx="1800994" cy="99134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9AB842B-DFB1-2DB0-1F6D-07AA3C087CCE}"/>
                </a:ext>
              </a:extLst>
            </p:cNvPr>
            <p:cNvSpPr/>
            <p:nvPr/>
          </p:nvSpPr>
          <p:spPr bwMode="auto">
            <a:xfrm>
              <a:off x="8442593" y="3745128"/>
              <a:ext cx="991344" cy="991341"/>
            </a:xfrm>
            <a:prstGeom prst="ellipse">
              <a:avLst/>
            </a:prstGeom>
            <a:solidFill>
              <a:schemeClr val="bg1">
                <a:lumMod val="95000"/>
                <a:alpha val="50000"/>
              </a:schemeClr>
            </a:solidFill>
            <a:ln w="6350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9184596-4360-375B-8F16-2303B1ACC264}"/>
                </a:ext>
              </a:extLst>
            </p:cNvPr>
            <p:cNvSpPr/>
            <p:nvPr/>
          </p:nvSpPr>
          <p:spPr bwMode="auto">
            <a:xfrm>
              <a:off x="7632943" y="3745128"/>
              <a:ext cx="991344" cy="991341"/>
            </a:xfrm>
            <a:prstGeom prst="ellipse">
              <a:avLst/>
            </a:prstGeom>
            <a:solidFill>
              <a:schemeClr val="bg1">
                <a:lumMod val="95000"/>
                <a:alpha val="50000"/>
              </a:schemeClr>
            </a:solidFill>
            <a:ln w="6350">
              <a:solidFill>
                <a:schemeClr val="bg1">
                  <a:lumMod val="9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FA64316-19C4-2D14-4D45-2DD070E697D9}"/>
                </a:ext>
              </a:extLst>
            </p:cNvPr>
            <p:cNvSpPr/>
            <p:nvPr/>
          </p:nvSpPr>
          <p:spPr bwMode="auto">
            <a:xfrm>
              <a:off x="8539922" y="3842458"/>
              <a:ext cx="796686" cy="796680"/>
            </a:xfrm>
            <a:prstGeom prst="ellipse">
              <a:avLst/>
            </a:prstGeom>
            <a:solidFill>
              <a:schemeClr val="bg1"/>
            </a:solidFill>
            <a:ln w="15875">
              <a:noFill/>
              <a:headEnd type="none" w="med" len="med"/>
              <a:tailEnd type="none" w="med" len="med"/>
            </a:ln>
            <a:effectLst>
              <a:outerShdw blurRad="279400" algn="ctr" rotWithShape="0">
                <a:prstClr val="black">
                  <a:alpha val="15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1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Segoe UI" pitchFamily="34" charset="0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017EA13-B52F-F284-B709-FCC5CD906FD5}"/>
                </a:ext>
              </a:extLst>
            </p:cNvPr>
            <p:cNvSpPr/>
            <p:nvPr/>
          </p:nvSpPr>
          <p:spPr bwMode="auto">
            <a:xfrm>
              <a:off x="7730272" y="3842458"/>
              <a:ext cx="796686" cy="796680"/>
            </a:xfrm>
            <a:prstGeom prst="ellipse">
              <a:avLst/>
            </a:prstGeom>
            <a:solidFill>
              <a:schemeClr val="bg1"/>
            </a:solidFill>
            <a:ln w="15875">
              <a:noFill/>
              <a:headEnd type="none" w="med" len="med"/>
              <a:tailEnd type="none" w="med" len="med"/>
            </a:ln>
            <a:effectLst>
              <a:outerShdw blurRad="279400" algn="ctr" rotWithShape="0">
                <a:prstClr val="black">
                  <a:alpha val="15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1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Segoe UI" pitchFamily="34" charset="0"/>
              </a:endParaRPr>
            </a:p>
          </p:txBody>
        </p:sp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F29BB339-E3A9-8B7A-D998-8BFE67C0E7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848338" y="3981137"/>
              <a:ext cx="521199" cy="521199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B0C79DFE-6411-8528-0702-A3B6FCE07F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52611" y="4022364"/>
              <a:ext cx="748219" cy="467637"/>
            </a:xfrm>
            <a:prstGeom prst="rect">
              <a:avLst/>
            </a:prstGeom>
            <a:ln w="6657" cap="flat">
              <a:noFill/>
              <a:prstDash val="solid"/>
              <a:miter/>
            </a:ln>
            <a:effectLst>
              <a:outerShdw blurRad="63500" dist="127000" dir="2700000" algn="tl" rotWithShape="0">
                <a:prstClr val="black">
                  <a:alpha val="50000"/>
                </a:prstClr>
              </a:outerShdw>
            </a:effectLst>
          </p:spPr>
        </p:pic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65471666-2380-DAE7-9D51-9D23E49D69B3}"/>
              </a:ext>
            </a:extLst>
          </p:cNvPr>
          <p:cNvSpPr txBox="1"/>
          <p:nvPr/>
        </p:nvSpPr>
        <p:spPr>
          <a:xfrm>
            <a:off x="638493" y="3958451"/>
            <a:ext cx="1016512" cy="430887"/>
          </a:xfrm>
          <a:prstGeom prst="rect">
            <a:avLst/>
          </a:prstGeom>
          <a:noFill/>
        </p:spPr>
        <p:txBody>
          <a:bodyPr wrap="square" lIns="91440" tIns="0" rIns="9144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 (Headings)"/>
                <a:ea typeface="+mn-ea"/>
                <a:cs typeface="+mn-cs"/>
              </a:rPr>
              <a:t>Natural 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 (Headings)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 (Headings)"/>
                <a:ea typeface="+mn-ea"/>
                <a:cs typeface="+mn-cs"/>
              </a:rPr>
              <a:t>Language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2B23A2-EB9B-ADD6-7CEC-A6D2F622E848}"/>
              </a:ext>
            </a:extLst>
          </p:cNvPr>
          <p:cNvSpPr txBox="1"/>
          <p:nvPr/>
        </p:nvSpPr>
        <p:spPr>
          <a:xfrm>
            <a:off x="10843076" y="3962230"/>
            <a:ext cx="715372" cy="430887"/>
          </a:xfrm>
          <a:prstGeom prst="rect">
            <a:avLst/>
          </a:prstGeom>
          <a:noFill/>
        </p:spPr>
        <p:txBody>
          <a:bodyPr wrap="square" lIns="91440" tIns="0" rIns="9144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 (Headings)"/>
                <a:ea typeface="+mn-ea"/>
                <a:cs typeface="+mn-cs"/>
              </a:rPr>
              <a:t>Code first</a:t>
            </a:r>
          </a:p>
        </p:txBody>
      </p:sp>
      <p:pic>
        <p:nvPicPr>
          <p:cNvPr id="29" name="Picture 28" descr="Image of Copilot Studio UI showing the agent building screen">
            <a:extLst>
              <a:ext uri="{FF2B5EF4-FFF2-40B4-BE49-F238E27FC236}">
                <a16:creationId xmlns:a16="http://schemas.microsoft.com/office/drawing/2014/main" id="{7C338F9D-3D84-64D8-E58B-1356854F62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901" t="2767" r="3638" b="7946"/>
          <a:stretch/>
        </p:blipFill>
        <p:spPr>
          <a:xfrm>
            <a:off x="4573483" y="1729476"/>
            <a:ext cx="3049332" cy="1783080"/>
          </a:xfrm>
          <a:prstGeom prst="rect">
            <a:avLst/>
          </a:prstGeom>
        </p:spPr>
      </p:pic>
      <p:pic>
        <p:nvPicPr>
          <p:cNvPr id="30" name="Picture 29" descr="A screenshot of a computer&#10;&#10;Description automatically generated">
            <a:extLst>
              <a:ext uri="{FF2B5EF4-FFF2-40B4-BE49-F238E27FC236}">
                <a16:creationId xmlns:a16="http://schemas.microsoft.com/office/drawing/2014/main" id="{F2DFA840-8AD1-CC12-774E-363506C7A57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18" t="9697" r="6597" b="10891"/>
          <a:stretch/>
        </p:blipFill>
        <p:spPr>
          <a:xfrm>
            <a:off x="1076071" y="1739530"/>
            <a:ext cx="3130547" cy="178308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2DDD2FA-2C02-C8EB-8110-942B4FE7812E}"/>
              </a:ext>
            </a:extLst>
          </p:cNvPr>
          <p:cNvPicPr>
            <a:picLocks/>
          </p:cNvPicPr>
          <p:nvPr/>
        </p:nvPicPr>
        <p:blipFill rotWithShape="1">
          <a:blip r:embed="rId8"/>
          <a:srcRect l="69318" t="42052" r="16185" b="31464"/>
          <a:stretch/>
        </p:blipFill>
        <p:spPr>
          <a:xfrm>
            <a:off x="7989679" y="1734793"/>
            <a:ext cx="3136392" cy="1783080"/>
          </a:xfrm>
          <a:prstGeom prst="roundRect">
            <a:avLst>
              <a:gd name="adj" fmla="val 6800"/>
            </a:avLst>
          </a:prstGeom>
          <a:effectLst>
            <a:outerShdw blurRad="76200" sx="102000" sy="102000" algn="ctr" rotWithShape="0">
              <a:prstClr val="black">
                <a:alpha val="16000"/>
              </a:prstClr>
            </a:outerShdw>
          </a:effectLst>
        </p:spPr>
      </p:pic>
      <p:sp>
        <p:nvSpPr>
          <p:cNvPr id="32" name="Oval 31">
            <a:extLst>
              <a:ext uri="{FF2B5EF4-FFF2-40B4-BE49-F238E27FC236}">
                <a16:creationId xmlns:a16="http://schemas.microsoft.com/office/drawing/2014/main" id="{2311C1B0-7585-5D29-80BB-F17CFE91DC99}"/>
              </a:ext>
            </a:extLst>
          </p:cNvPr>
          <p:cNvSpPr/>
          <p:nvPr/>
        </p:nvSpPr>
        <p:spPr bwMode="auto">
          <a:xfrm>
            <a:off x="9849632" y="3651630"/>
            <a:ext cx="991344" cy="991341"/>
          </a:xfrm>
          <a:prstGeom prst="ellipse">
            <a:avLst/>
          </a:prstGeom>
          <a:solidFill>
            <a:schemeClr val="bg1">
              <a:lumMod val="95000"/>
              <a:alpha val="50000"/>
            </a:schemeClr>
          </a:solidFill>
          <a:ln w="6350">
            <a:solidFill>
              <a:schemeClr val="bg1">
                <a:lumMod val="9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4D8CDBB-70F5-A577-28B1-655CC92C65AF}"/>
              </a:ext>
            </a:extLst>
          </p:cNvPr>
          <p:cNvSpPr/>
          <p:nvPr/>
        </p:nvSpPr>
        <p:spPr bwMode="auto">
          <a:xfrm>
            <a:off x="9946961" y="3748960"/>
            <a:ext cx="796686" cy="796680"/>
          </a:xfrm>
          <a:prstGeom prst="ellipse">
            <a:avLst/>
          </a:prstGeom>
          <a:solidFill>
            <a:schemeClr val="bg1"/>
          </a:solidFill>
          <a:ln w="15875">
            <a:noFill/>
            <a:headEnd type="none" w="med" len="med"/>
            <a:tailEnd type="none" w="med" len="med"/>
          </a:ln>
          <a:effectLst>
            <a:outerShdw blurRad="279400" algn="ctr" rotWithShape="0">
              <a:prstClr val="black">
                <a:alpha val="15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Segoe UI" pitchFamily="34" charset="0"/>
            </a:endParaRPr>
          </a:p>
        </p:txBody>
      </p:sp>
      <p:pic>
        <p:nvPicPr>
          <p:cNvPr id="34" name="Picture 33" descr="A black cat in a circle&#10;&#10;Description automatically generated">
            <a:extLst>
              <a:ext uri="{FF2B5EF4-FFF2-40B4-BE49-F238E27FC236}">
                <a16:creationId xmlns:a16="http://schemas.microsoft.com/office/drawing/2014/main" id="{4EA454A4-1000-137D-D92A-00FC1D85CDC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81811" y="3898068"/>
            <a:ext cx="492674" cy="520561"/>
          </a:xfrm>
          <a:prstGeom prst="rect">
            <a:avLst/>
          </a:prstGeom>
        </p:spPr>
      </p:pic>
      <p:pic>
        <p:nvPicPr>
          <p:cNvPr id="35" name="Picture 34" descr="A colorful hexagon with stars&#10;&#10;Description automatically generated">
            <a:extLst>
              <a:ext uri="{FF2B5EF4-FFF2-40B4-BE49-F238E27FC236}">
                <a16:creationId xmlns:a16="http://schemas.microsoft.com/office/drawing/2014/main" id="{53F94743-A86D-6A8B-A852-DB841B2D93D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2532" y="5344333"/>
            <a:ext cx="306373" cy="30637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C5DB3B1-2777-81B4-9A48-5CA6D8DF2B86}"/>
              </a:ext>
            </a:extLst>
          </p:cNvPr>
          <p:cNvSpPr txBox="1"/>
          <p:nvPr/>
        </p:nvSpPr>
        <p:spPr>
          <a:xfrm>
            <a:off x="8891589" y="5381955"/>
            <a:ext cx="1991412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 Semibold"/>
                <a:cs typeface="Segoe UI Semibold"/>
              </a:rPr>
              <a:t>Foundry AI Agent Service</a:t>
            </a:r>
          </a:p>
        </p:txBody>
      </p:sp>
      <p:pic>
        <p:nvPicPr>
          <p:cNvPr id="37" name="Picture 4" descr="Semantic Kernel's new icon and the art of teamwork ...">
            <a:extLst>
              <a:ext uri="{FF2B5EF4-FFF2-40B4-BE49-F238E27FC236}">
                <a16:creationId xmlns:a16="http://schemas.microsoft.com/office/drawing/2014/main" id="{D39C08E5-CA8A-108A-4D77-E7244688B7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4099" y="5038181"/>
            <a:ext cx="250086" cy="250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150F5CD-3A9E-EA47-5BEC-E8DDEC70E0AE}"/>
              </a:ext>
            </a:extLst>
          </p:cNvPr>
          <p:cNvSpPr txBox="1"/>
          <p:nvPr/>
        </p:nvSpPr>
        <p:spPr>
          <a:xfrm>
            <a:off x="8905021" y="5008026"/>
            <a:ext cx="1991412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 Semibold"/>
                <a:cs typeface="Segoe UI Semibold"/>
              </a:rPr>
              <a:t>Semantic Kernel</a:t>
            </a:r>
          </a:p>
        </p:txBody>
      </p:sp>
    </p:spTree>
    <p:extLst>
      <p:ext uri="{BB962C8B-B14F-4D97-AF65-F5344CB8AC3E}">
        <p14:creationId xmlns:p14="http://schemas.microsoft.com/office/powerpoint/2010/main" val="318550372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00618-5B1B-86E9-2A0F-99E79861A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CAAA-E5B0-1876-2B58-A73AB3B83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2" y="336499"/>
            <a:ext cx="0" cy="0"/>
          </a:xfrm>
        </p:spPr>
        <p:txBody>
          <a:bodyPr/>
          <a:lstStyle/>
          <a:p>
            <a:endParaRPr lang="en-DE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8D3CE47-3E76-A8A6-A072-D26FE751935F}"/>
              </a:ext>
            </a:extLst>
          </p:cNvPr>
          <p:cNvSpPr/>
          <p:nvPr/>
        </p:nvSpPr>
        <p:spPr bwMode="auto">
          <a:xfrm>
            <a:off x="741674" y="1206500"/>
            <a:ext cx="10706039" cy="5010150"/>
          </a:xfrm>
          <a:prstGeom prst="roundRect">
            <a:avLst>
              <a:gd name="adj" fmla="val 1506"/>
            </a:avLst>
          </a:prstGeom>
          <a:solidFill>
            <a:srgbClr val="FFFFFF">
              <a:lumMod val="95000"/>
            </a:srgbClr>
          </a:solidFill>
          <a:ln w="22225" cap="flat" cmpd="sng" algn="ctr">
            <a:noFill/>
            <a:prstDash val="solid"/>
            <a:headEnd type="none" w="med" len="med"/>
            <a:tailEnd type="none" w="med" len="med"/>
          </a:ln>
          <a:effectLst>
            <a:outerShdw blurRad="203200" sx="102000" sy="102000" algn="ctr" rotWithShape="0">
              <a:prstClr val="black">
                <a:alpha val="18000"/>
              </a:prstClr>
            </a:outerShdw>
          </a:effectLst>
        </p:spPr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0410094-E8E2-457B-ABDD-652F6BAB4096}"/>
              </a:ext>
            </a:extLst>
          </p:cNvPr>
          <p:cNvGrpSpPr/>
          <p:nvPr/>
        </p:nvGrpSpPr>
        <p:grpSpPr>
          <a:xfrm>
            <a:off x="2361546" y="647076"/>
            <a:ext cx="7466293" cy="1055131"/>
            <a:chOff x="1739899" y="595806"/>
            <a:chExt cx="8712200" cy="121859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90E4C5E-A7B0-CAEA-436C-CAF91D2F6E03}"/>
                </a:ext>
              </a:extLst>
            </p:cNvPr>
            <p:cNvSpPr txBox="1"/>
            <p:nvPr/>
          </p:nvSpPr>
          <p:spPr>
            <a:xfrm>
              <a:off x="1739899" y="595806"/>
              <a:ext cx="8712200" cy="121859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6350" cap="flat" cmpd="sng" algn="ctr">
              <a:solidFill>
                <a:srgbClr val="FFFFFF">
                  <a:lumMod val="75000"/>
                </a:srgbClr>
              </a:solidFill>
              <a:prstDash val="solid"/>
              <a:headEnd type="none" w="lg" len="med"/>
              <a:tailEnd type="none" w="lg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R="0" lvl="0" indent="0" defTabSz="932472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2000" b="0" i="0" u="none" strike="noStrike" cap="none" spc="0" normalizeH="0" baseline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Segoe UI" pitchFamily="34" charset="0"/>
                  <a:cs typeface="Segoe UI" pitchFamily="34" charset="0"/>
                </a:defRPr>
              </a:lvl1pPr>
              <a:lvl2pPr>
                <a:defRPr>
                  <a:solidFill>
                    <a:schemeClr val="tx1"/>
                  </a:solidFill>
                </a:defRPr>
              </a:lvl2pPr>
              <a:lvl3pPr>
                <a:defRPr>
                  <a:solidFill>
                    <a:schemeClr val="tx1"/>
                  </a:solidFill>
                </a:defRPr>
              </a:lvl3pPr>
              <a:lvl4pPr>
                <a:defRPr>
                  <a:solidFill>
                    <a:schemeClr val="tx1"/>
                  </a:solidFill>
                </a:defRPr>
              </a:lvl4pPr>
              <a:lvl5pPr>
                <a:defRPr>
                  <a:solidFill>
                    <a:schemeClr val="tx1"/>
                  </a:solidFill>
                </a:defRPr>
              </a:lvl5pPr>
              <a:lvl6pPr>
                <a:defRPr>
                  <a:solidFill>
                    <a:schemeClr val="tx1"/>
                  </a:solidFill>
                </a:defRPr>
              </a:lvl6pPr>
              <a:lvl7pPr>
                <a:defRPr>
                  <a:solidFill>
                    <a:schemeClr val="tx1"/>
                  </a:solidFill>
                </a:defRPr>
              </a:lvl7pPr>
              <a:lvl8pPr>
                <a:defRPr>
                  <a:solidFill>
                    <a:schemeClr val="tx1"/>
                  </a:solidFill>
                </a:defRPr>
              </a:lvl8pPr>
              <a:lvl9pPr>
                <a:defRPr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Variable Small" pitchFamily="2" charset="0"/>
                <a:cs typeface="Segoe UI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3F2272E-EEDF-4BB4-163F-E4F5472E03A8}"/>
                </a:ext>
              </a:extLst>
            </p:cNvPr>
            <p:cNvSpPr txBox="1"/>
            <p:nvPr/>
          </p:nvSpPr>
          <p:spPr>
            <a:xfrm>
              <a:off x="1866899" y="691540"/>
              <a:ext cx="8458201" cy="102712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75000"/>
              </a:srgbClr>
            </a:solidFill>
            <a:ln w="15875" cap="flat" cmpd="sng" algn="ctr">
              <a:noFill/>
              <a:prstDash val="solid"/>
              <a:headEnd type="none" w="med" len="med"/>
              <a:tailEnd type="none" w="med" len="med"/>
            </a:ln>
            <a:effectLst>
              <a:outerShdw blurRad="279400" algn="ctr" rotWithShape="0">
                <a:prstClr val="black">
                  <a:alpha val="15000"/>
                </a:prstClr>
              </a:outerShdw>
            </a:effectLst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R="0" lvl="0" indent="0" defTabSz="932472" fontAlgn="base">
                <a:lnSpc>
                  <a:spcPct val="11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2000" b="0" i="0" u="none" strike="noStrike" cap="none" spc="0" normalizeH="0" baseline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/>
                  <a:cs typeface="Segoe UI" pitchFamily="34" charset="0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pPr marL="0" marR="0" lvl="0" indent="0" algn="ctr" defTabSz="932472" rtl="0" eaLnBrk="1" fontAlgn="base" latinLnBrk="0" hangingPunct="1">
                <a:lnSpc>
                  <a:spcPct val="11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0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Segoe Sans Text Semibold" pitchFamily="2" charset="0"/>
                  <a:ea typeface="+mn-ea"/>
                  <a:cs typeface="Segoe Sans Text Semibold" pitchFamily="2" charset="0"/>
                </a:rPr>
                <a:t>	Copilot Studio</a:t>
              </a: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E91B4E66-6AC8-4855-1FA6-E880B85525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72283" y="857142"/>
            <a:ext cx="635000" cy="6350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E966BD5-4E0E-3C54-CAE4-6662D767870B}"/>
              </a:ext>
            </a:extLst>
          </p:cNvPr>
          <p:cNvSpPr txBox="1"/>
          <p:nvPr/>
        </p:nvSpPr>
        <p:spPr>
          <a:xfrm>
            <a:off x="1025520" y="1968672"/>
            <a:ext cx="10086980" cy="4032186"/>
          </a:xfrm>
          <a:prstGeom prst="roundRect">
            <a:avLst>
              <a:gd name="adj" fmla="val 5592"/>
            </a:avLst>
          </a:prstGeom>
          <a:solidFill>
            <a:srgbClr val="FFFFFF">
              <a:alpha val="75000"/>
            </a:srgbClr>
          </a:solidFill>
          <a:ln w="15875" cap="flat" cmpd="sng" algn="ctr">
            <a:noFill/>
            <a:prstDash val="solid"/>
            <a:headEnd type="none" w="med" len="med"/>
            <a:tailEnd type="none" w="med" len="med"/>
          </a:ln>
          <a:effectLst>
            <a:outerShdw blurRad="279400" algn="ctr" rotWithShape="0">
              <a:prstClr val="black">
                <a:alpha val="15000"/>
              </a:prstClr>
            </a:outerShdw>
          </a:effectLst>
        </p:spPr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R="0" lvl="0" indent="0" defTabSz="932472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cs typeface="Segoe UI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+mn-ea"/>
              <a:cs typeface="Segoe UI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3A738-D8CB-26BC-FCCD-0F27E38AC25B}"/>
              </a:ext>
            </a:extLst>
          </p:cNvPr>
          <p:cNvSpPr/>
          <p:nvPr/>
        </p:nvSpPr>
        <p:spPr bwMode="auto">
          <a:xfrm>
            <a:off x="5334931" y="2456222"/>
            <a:ext cx="5405705" cy="3057086"/>
          </a:xfrm>
          <a:prstGeom prst="roundRect">
            <a:avLst>
              <a:gd name="adj" fmla="val 4748"/>
            </a:avLst>
          </a:prstGeom>
          <a:blipFill>
            <a:blip r:embed="rId4"/>
            <a:stretch>
              <a:fillRect/>
            </a:stretch>
          </a:blipFill>
          <a:ln w="9525" cap="flat" cmpd="sng" algn="ctr">
            <a:noFill/>
            <a:prstDash val="solid"/>
            <a:headEnd type="none" w="med" len="med"/>
            <a:tailEnd type="none" w="med" len="med"/>
          </a:ln>
          <a:effectLst>
            <a:outerShdw blurRad="63500" sx="101000" sy="101000" algn="ctr" rotWithShape="0">
              <a:prstClr val="black">
                <a:alpha val="12000"/>
              </a:prstClr>
            </a:outerShdw>
          </a:effectLst>
        </p:spPr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B72B57C2-5583-94F7-7880-27A5F65ABE15}"/>
              </a:ext>
            </a:extLst>
          </p:cNvPr>
          <p:cNvSpPr txBox="1">
            <a:spLocks/>
          </p:cNvSpPr>
          <p:nvPr/>
        </p:nvSpPr>
        <p:spPr>
          <a:xfrm>
            <a:off x="1451364" y="2464379"/>
            <a:ext cx="3548354" cy="3051285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-50" normalizeH="0" baseline="0" noProof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Copilot Studio is an end-to-end conversational AI platform for </a:t>
            </a:r>
            <a:r>
              <a:rPr kumimoji="0" lang="en-US" sz="2400" b="1" i="0" u="none" strike="noStrike" kern="1200" cap="none" spc="-50" normalizeH="0" baseline="0" noProof="0">
                <a:ln w="3175">
                  <a:noFill/>
                </a:ln>
                <a:solidFill>
                  <a:srgbClr val="0078D4"/>
                </a:solidFill>
                <a:effectLst/>
                <a:uLnTx/>
                <a:uFillTx/>
                <a:latin typeface="Segoe UI Semibold"/>
                <a:ea typeface="+mn-ea"/>
                <a:cs typeface="Segoe UI"/>
              </a:rPr>
              <a:t>extending Microsoft Copilot </a:t>
            </a:r>
            <a:r>
              <a:rPr kumimoji="0" lang="en-US" sz="2400" b="0" i="0" u="none" strike="noStrike" kern="1200" cap="none" spc="-50" normalizeH="0" baseline="0" noProof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or</a:t>
            </a:r>
            <a:r>
              <a:rPr kumimoji="0" lang="en-US" sz="2400" b="0" i="0" u="none" strike="noStrike" kern="1200" cap="none" spc="-50" normalizeH="0" baseline="0" noProof="0">
                <a:ln w="3175">
                  <a:noFill/>
                </a:ln>
                <a:solidFill>
                  <a:srgbClr val="0078D4"/>
                </a:solidFill>
                <a:effectLst/>
                <a:uLnTx/>
                <a:uFillTx/>
                <a:latin typeface="Segoe UI Semibold"/>
                <a:ea typeface="+mn-ea"/>
                <a:cs typeface="Segoe UI"/>
              </a:rPr>
              <a:t> </a:t>
            </a:r>
            <a:r>
              <a:rPr kumimoji="0" lang="en-US" sz="2400" b="1" i="0" u="none" strike="noStrike" kern="1200" cap="none" spc="-50" normalizeH="0" baseline="0" noProof="0">
                <a:ln w="3175">
                  <a:noFill/>
                </a:ln>
                <a:solidFill>
                  <a:srgbClr val="0078D4"/>
                </a:solidFill>
                <a:effectLst/>
                <a:uLnTx/>
                <a:uFillTx/>
                <a:latin typeface="Segoe UI Semibold"/>
                <a:ea typeface="+mn-ea"/>
                <a:cs typeface="Segoe UI"/>
              </a:rPr>
              <a:t>building your own copilot </a:t>
            </a:r>
            <a:r>
              <a:rPr kumimoji="0" lang="en-US" sz="2400" b="0" i="0" u="none" strike="noStrike" kern="1200" cap="none" spc="-50" normalizeH="0" baseline="0" noProof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experiences with generative AI and large language models. </a:t>
            </a:r>
            <a:endParaRPr kumimoji="0" lang="en-US" sz="3600" b="0" i="0" u="none" strike="noStrike" kern="1200" cap="none" spc="-50" normalizeH="0" baseline="0" noProof="0">
              <a:ln w="3175"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+mn-ea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8321981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grpId="1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3.54167E-6 1.48148E-6 L 3.54167E-6 0.03542 " pathEditMode="relative" rAng="0" ptsTypes="AA">
                                      <p:cBhvr>
                                        <p:cTn id="9" dur="7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B7633-FE3E-E635-75B1-DBBF60B6E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2433C-6F30-F03C-D630-7034E85438C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1838" y="2079408"/>
            <a:ext cx="7402511" cy="825180"/>
          </a:xfrm>
        </p:spPr>
        <p:txBody>
          <a:bodyPr/>
          <a:lstStyle/>
          <a:p>
            <a:r>
              <a:rPr lang="en-US" dirty="0"/>
              <a:t>Please use the following users</a:t>
            </a:r>
            <a:endParaRPr lang="en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2F717E-6C64-E09B-FA5C-0650C2B9A98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DB5EAF-BF65-2185-F9CF-61F010606712}"/>
              </a:ext>
            </a:extLst>
          </p:cNvPr>
          <p:cNvSpPr txBox="1"/>
          <p:nvPr/>
        </p:nvSpPr>
        <p:spPr>
          <a:xfrm>
            <a:off x="622123" y="3425155"/>
            <a:ext cx="1063597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User: 161 – </a:t>
            </a:r>
            <a:r>
              <a:rPr lang="en-US" sz="4000" dirty="0">
                <a:solidFill>
                  <a:schemeClr val="bg1"/>
                </a:solidFill>
              </a:rPr>
              <a:t>19</a:t>
            </a:r>
            <a:r>
              <a:rPr lang="en-US" sz="4000" b="1" dirty="0">
                <a:solidFill>
                  <a:schemeClr val="bg1"/>
                </a:solidFill>
              </a:rPr>
              <a:t>0</a:t>
            </a:r>
          </a:p>
          <a:p>
            <a:pPr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SAP Backen</a:t>
            </a:r>
            <a:r>
              <a:rPr lang="en-US" sz="4400" dirty="0">
                <a:solidFill>
                  <a:schemeClr val="bg1"/>
                </a:solidFill>
              </a:rPr>
              <a:t>d: </a:t>
            </a:r>
            <a:r>
              <a:rPr lang="en-US" sz="4400" dirty="0" err="1">
                <a:solidFill>
                  <a:schemeClr val="bg1"/>
                </a:solidFill>
              </a:rPr>
              <a:t>userX</a:t>
            </a:r>
            <a:endParaRPr lang="en-US" sz="4400" dirty="0">
              <a:solidFill>
                <a:schemeClr val="bg1"/>
              </a:solidFill>
            </a:endParaRPr>
          </a:p>
          <a:p>
            <a:pPr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Entra</a:t>
            </a:r>
            <a:r>
              <a:rPr lang="en-US" sz="4400" dirty="0">
                <a:solidFill>
                  <a:schemeClr val="bg1"/>
                </a:solidFill>
              </a:rPr>
              <a:t>: userX@bestruncorp.onmicrosoft.com</a:t>
            </a:r>
          </a:p>
        </p:txBody>
      </p:sp>
    </p:spTree>
    <p:extLst>
      <p:ext uri="{BB962C8B-B14F-4D97-AF65-F5344CB8AC3E}">
        <p14:creationId xmlns:p14="http://schemas.microsoft.com/office/powerpoint/2010/main" val="20106951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FC965-15BE-7FDF-D8A5-9D4F5116CCA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12" name="Picture 11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19EA9FB8-E067-1344-6211-DDABEDFD71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0507" y="1184831"/>
            <a:ext cx="4762500" cy="47625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DEC0EF1-98E6-311B-888A-944D6490DF58}"/>
              </a:ext>
            </a:extLst>
          </p:cNvPr>
          <p:cNvSpPr txBox="1"/>
          <p:nvPr/>
        </p:nvSpPr>
        <p:spPr>
          <a:xfrm>
            <a:off x="4104357" y="5710239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H12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2957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68EEC-07D2-423D-45A5-5FEFF1715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BEC2D-ECA2-0679-A38D-3817137514A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1838" y="2079408"/>
            <a:ext cx="7402511" cy="825180"/>
          </a:xfrm>
        </p:spPr>
        <p:txBody>
          <a:bodyPr/>
          <a:lstStyle/>
          <a:p>
            <a:r>
              <a:rPr lang="en-US" dirty="0"/>
              <a:t>Please use the following users</a:t>
            </a:r>
            <a:endParaRPr lang="en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AEBF46-B479-155A-56B4-4EADA1F0B9C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677593-8744-A135-0486-ED6424DD470F}"/>
              </a:ext>
            </a:extLst>
          </p:cNvPr>
          <p:cNvSpPr txBox="1"/>
          <p:nvPr/>
        </p:nvSpPr>
        <p:spPr>
          <a:xfrm>
            <a:off x="622123" y="3425155"/>
            <a:ext cx="1063597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User: </a:t>
            </a:r>
            <a:r>
              <a:rPr lang="en-US" sz="4000" dirty="0">
                <a:solidFill>
                  <a:schemeClr val="bg1"/>
                </a:solidFill>
              </a:rPr>
              <a:t>20</a:t>
            </a:r>
            <a:r>
              <a:rPr lang="en-US" sz="4000" b="1" dirty="0">
                <a:solidFill>
                  <a:schemeClr val="bg1"/>
                </a:solidFill>
              </a:rPr>
              <a:t>1 – 230</a:t>
            </a:r>
          </a:p>
          <a:p>
            <a:pPr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SAP Backen</a:t>
            </a:r>
            <a:r>
              <a:rPr lang="en-US" sz="4400" dirty="0">
                <a:solidFill>
                  <a:schemeClr val="bg1"/>
                </a:solidFill>
              </a:rPr>
              <a:t>d: </a:t>
            </a:r>
            <a:r>
              <a:rPr lang="en-US" sz="4400" dirty="0" err="1">
                <a:solidFill>
                  <a:schemeClr val="bg1"/>
                </a:solidFill>
              </a:rPr>
              <a:t>userX</a:t>
            </a:r>
            <a:endParaRPr lang="en-US" sz="4400" dirty="0">
              <a:solidFill>
                <a:schemeClr val="bg1"/>
              </a:solidFill>
            </a:endParaRPr>
          </a:p>
          <a:p>
            <a:pPr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Entra</a:t>
            </a:r>
            <a:r>
              <a:rPr lang="en-US" sz="4400" dirty="0">
                <a:solidFill>
                  <a:schemeClr val="bg1"/>
                </a:solidFill>
              </a:rPr>
              <a:t>: userX@bestruncorp.onmicrosoft.com</a:t>
            </a:r>
          </a:p>
        </p:txBody>
      </p:sp>
    </p:spTree>
    <p:extLst>
      <p:ext uri="{BB962C8B-B14F-4D97-AF65-F5344CB8AC3E}">
        <p14:creationId xmlns:p14="http://schemas.microsoft.com/office/powerpoint/2010/main" val="22248594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2EF88-2157-68D7-32DB-741B6B826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D53F05-FDB0-B57E-4119-C14ADC19484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15" name="Picture 1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1D809A81-6B8D-327F-8A24-D70EF75E38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5970" y="969684"/>
            <a:ext cx="4762500" cy="47625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3917ADA-95C8-24A8-BB53-11D6EC356860}"/>
              </a:ext>
            </a:extLst>
          </p:cNvPr>
          <p:cNvSpPr txBox="1"/>
          <p:nvPr/>
        </p:nvSpPr>
        <p:spPr>
          <a:xfrm>
            <a:off x="4406587" y="5562907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H32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161100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artoon of two people fighting&#10;&#10;Description automatically generated">
            <a:extLst>
              <a:ext uri="{FF2B5EF4-FFF2-40B4-BE49-F238E27FC236}">
                <a16:creationId xmlns:a16="http://schemas.microsoft.com/office/drawing/2014/main" id="{38DED872-521C-38E6-398E-E2693D8D9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969C770-132E-1087-2BAE-17F801ECB31A}"/>
              </a:ext>
            </a:extLst>
          </p:cNvPr>
          <p:cNvSpPr txBox="1"/>
          <p:nvPr/>
        </p:nvSpPr>
        <p:spPr>
          <a:xfrm>
            <a:off x="414259" y="3182718"/>
            <a:ext cx="20813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rgbClr val="FF0000"/>
                </a:solidFill>
              </a:rPr>
              <a:t>Red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000000"/>
                </a:solidFill>
              </a:rPr>
              <a:t>team</a:t>
            </a:r>
            <a:endParaRPr lang="en-DE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85A129-4468-800B-8B51-E106C6A43D6B}"/>
              </a:ext>
            </a:extLst>
          </p:cNvPr>
          <p:cNvSpPr txBox="1"/>
          <p:nvPr/>
        </p:nvSpPr>
        <p:spPr>
          <a:xfrm>
            <a:off x="9796542" y="3259723"/>
            <a:ext cx="20813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3"/>
                </a:solidFill>
              </a:rPr>
              <a:t>Blue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000000"/>
                </a:solidFill>
              </a:rPr>
              <a:t>team</a:t>
            </a:r>
            <a:endParaRPr lang="en-DE" dirty="0">
              <a:solidFill>
                <a:srgbClr val="000000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F00B963-2D22-9C42-F761-95F1E964D8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7438" y="2957869"/>
            <a:ext cx="1294979" cy="6404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11775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24C145-35BA-2E0C-619E-8B1FDEA41B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7213" y="223838"/>
            <a:ext cx="10937875" cy="755218"/>
          </a:xfrm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Der </a:t>
            </a:r>
            <a:r>
              <a:rPr lang="de-DE" dirty="0">
                <a:hlinkClick r:id="rId2"/>
              </a:rPr>
              <a:t>Lagebericht</a:t>
            </a:r>
            <a:r>
              <a:rPr lang="de-DE" dirty="0"/>
              <a:t> </a:t>
            </a:r>
            <a:r>
              <a:rPr lang="de-DE" dirty="0">
                <a:solidFill>
                  <a:schemeClr val="bg1"/>
                </a:solidFill>
              </a:rPr>
              <a:t>des BSI (2024) zur IT-Sicherheit meldet: </a:t>
            </a:r>
            <a:endParaRPr lang="en-DE" dirty="0">
              <a:solidFill>
                <a:schemeClr val="bg1"/>
              </a:solidFill>
            </a:endParaRPr>
          </a:p>
        </p:txBody>
      </p:sp>
      <p:pic>
        <p:nvPicPr>
          <p:cNvPr id="3" name="Picture 2" descr="A graph with numbers and lines&#10;&#10;Description automatically generated">
            <a:extLst>
              <a:ext uri="{FF2B5EF4-FFF2-40B4-BE49-F238E27FC236}">
                <a16:creationId xmlns:a16="http://schemas.microsoft.com/office/drawing/2014/main" id="{80053D07-E838-6779-61E8-3AA497A5D3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38" y="2031109"/>
            <a:ext cx="5706271" cy="32580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 descr="A graph with lines and dots&#10;&#10;Description automatically generated">
            <a:extLst>
              <a:ext uri="{FF2B5EF4-FFF2-40B4-BE49-F238E27FC236}">
                <a16:creationId xmlns:a16="http://schemas.microsoft.com/office/drawing/2014/main" id="{E28637A1-819F-E8F6-0287-6ABD3D39A5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0926" y="1903520"/>
            <a:ext cx="4510636" cy="3433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7163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74DD94-7055-F193-5758-38622E6BDED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 dirty="0" err="1"/>
              <a:t>Adversary</a:t>
            </a:r>
            <a:r>
              <a:rPr lang="de-DE" cap="none" dirty="0"/>
              <a:t> in </a:t>
            </a:r>
            <a:r>
              <a:rPr lang="de-DE" cap="none" dirty="0" err="1"/>
              <a:t>the</a:t>
            </a:r>
            <a:r>
              <a:rPr lang="de-DE" cap="none" dirty="0"/>
              <a:t> </a:t>
            </a:r>
            <a:r>
              <a:rPr lang="de-DE" cap="none" dirty="0" err="1"/>
              <a:t>middle</a:t>
            </a:r>
            <a:r>
              <a:rPr lang="de-DE" cap="none" dirty="0"/>
              <a:t> </a:t>
            </a:r>
            <a:r>
              <a:rPr lang="de-DE" cap="none" dirty="0" err="1"/>
              <a:t>attack</a:t>
            </a:r>
            <a:r>
              <a:rPr lang="de-DE" cap="none" dirty="0"/>
              <a:t> (</a:t>
            </a:r>
            <a:r>
              <a:rPr lang="de-DE" cap="none" dirty="0" err="1"/>
              <a:t>AitM</a:t>
            </a:r>
            <a:r>
              <a:rPr lang="de-DE" cap="none" dirty="0"/>
              <a:t>)</a:t>
            </a:r>
            <a:endParaRPr lang="en-DE" cap="none" dirty="0"/>
          </a:p>
        </p:txBody>
      </p:sp>
      <p:pic>
        <p:nvPicPr>
          <p:cNvPr id="2058" name="Picture 10" descr="Upcoming Change to Microsoft Multi-Factor Authentication App: Number  Verification — Syracuse University News">
            <a:extLst>
              <a:ext uri="{FF2B5EF4-FFF2-40B4-BE49-F238E27FC236}">
                <a16:creationId xmlns:a16="http://schemas.microsoft.com/office/drawing/2014/main" id="{1A57BCBE-65C8-3891-36B4-29E67BDC2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9305" y="1468292"/>
            <a:ext cx="7174004" cy="4461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50A6694-5439-A936-E36A-ECBCCD97C34D}"/>
              </a:ext>
            </a:extLst>
          </p:cNvPr>
          <p:cNvSpPr txBox="1"/>
          <p:nvPr/>
        </p:nvSpPr>
        <p:spPr>
          <a:xfrm>
            <a:off x="378691" y="2644138"/>
            <a:ext cx="4056062" cy="1951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SIM </a:t>
            </a:r>
            <a:r>
              <a:rPr lang="de-DE" sz="2800" dirty="0" err="1"/>
              <a:t>Jacking</a:t>
            </a:r>
            <a:endParaRPr lang="de-DE" sz="28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MFA </a:t>
            </a:r>
            <a:r>
              <a:rPr lang="de-DE" sz="2800" dirty="0" err="1"/>
              <a:t>fatigue</a:t>
            </a:r>
            <a:endParaRPr lang="de-DE" sz="28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Social </a:t>
            </a:r>
            <a:r>
              <a:rPr lang="de-DE" sz="2800" dirty="0" err="1"/>
              <a:t>engineering</a:t>
            </a:r>
            <a:endParaRPr lang="en-DE" sz="2800" dirty="0"/>
          </a:p>
        </p:txBody>
      </p:sp>
    </p:spTree>
    <p:extLst>
      <p:ext uri="{BB962C8B-B14F-4D97-AF65-F5344CB8AC3E}">
        <p14:creationId xmlns:p14="http://schemas.microsoft.com/office/powerpoint/2010/main" val="18934767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74DD94-7055-F193-5758-38622E6BDED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 dirty="0" err="1"/>
              <a:t>Adversary</a:t>
            </a:r>
            <a:r>
              <a:rPr lang="de-DE" cap="none" dirty="0"/>
              <a:t> in </a:t>
            </a:r>
            <a:r>
              <a:rPr lang="de-DE" cap="none" dirty="0" err="1"/>
              <a:t>the</a:t>
            </a:r>
            <a:r>
              <a:rPr lang="de-DE" cap="none" dirty="0"/>
              <a:t> </a:t>
            </a:r>
            <a:r>
              <a:rPr lang="de-DE" cap="none" dirty="0" err="1"/>
              <a:t>middle</a:t>
            </a:r>
            <a:r>
              <a:rPr lang="de-DE" cap="none" dirty="0"/>
              <a:t> </a:t>
            </a:r>
            <a:r>
              <a:rPr lang="de-DE" cap="none" dirty="0" err="1"/>
              <a:t>attack</a:t>
            </a:r>
            <a:r>
              <a:rPr lang="de-DE" cap="none" dirty="0"/>
              <a:t> (</a:t>
            </a:r>
            <a:r>
              <a:rPr lang="de-DE" cap="none" dirty="0" err="1"/>
              <a:t>AitM</a:t>
            </a:r>
            <a:r>
              <a:rPr lang="de-DE" cap="none" dirty="0"/>
              <a:t>)</a:t>
            </a:r>
            <a:endParaRPr lang="en-DE" cap="none" dirty="0"/>
          </a:p>
        </p:txBody>
      </p:sp>
      <p:pic>
        <p:nvPicPr>
          <p:cNvPr id="2052" name="Picture 4" descr="GitHub - kgretzky/evilginx2: Standalone man-in-the-middle attack framework  used for phishing login credentials along with session cookies, allowing  for the bypass of 2-factor authentication">
            <a:extLst>
              <a:ext uri="{FF2B5EF4-FFF2-40B4-BE49-F238E27FC236}">
                <a16:creationId xmlns:a16="http://schemas.microsoft.com/office/drawing/2014/main" id="{2C5010C0-A500-8730-C528-15B00B205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9317" y="2820014"/>
            <a:ext cx="1729874" cy="94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SAP Fiori Launchpad | SAP Fiori for Web Design Guidelines">
            <a:extLst>
              <a:ext uri="{FF2B5EF4-FFF2-40B4-BE49-F238E27FC236}">
                <a16:creationId xmlns:a16="http://schemas.microsoft.com/office/drawing/2014/main" id="{CCE60704-CA20-F8B1-F6CC-90016E98E3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1892" y="2060652"/>
            <a:ext cx="3786943" cy="2594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72B70101-C3FB-85FA-D8AD-1AB92F9CC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29382" y="1185278"/>
            <a:ext cx="732270" cy="7322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9FFE32-5F08-A091-1E54-C0D0228D00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812" y="1795187"/>
            <a:ext cx="2143424" cy="24863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545440-8945-8D5C-4045-2CAFC5B751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31221" y="3766039"/>
            <a:ext cx="599393" cy="512458"/>
          </a:xfrm>
          <a:prstGeom prst="rect">
            <a:avLst/>
          </a:prstGeom>
        </p:spPr>
      </p:pic>
      <p:pic>
        <p:nvPicPr>
          <p:cNvPr id="15" name="Graphic 14" descr="Internet with solid fill">
            <a:extLst>
              <a:ext uri="{FF2B5EF4-FFF2-40B4-BE49-F238E27FC236}">
                <a16:creationId xmlns:a16="http://schemas.microsoft.com/office/drawing/2014/main" id="{9F9AF3E6-0209-CF6E-268F-2AF59189E51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412" y="3944517"/>
            <a:ext cx="914400" cy="914400"/>
          </a:xfrm>
          <a:prstGeom prst="rect">
            <a:avLst/>
          </a:prstGeom>
        </p:spPr>
      </p:pic>
      <p:sp>
        <p:nvSpPr>
          <p:cNvPr id="16" name="Arc 15">
            <a:extLst>
              <a:ext uri="{FF2B5EF4-FFF2-40B4-BE49-F238E27FC236}">
                <a16:creationId xmlns:a16="http://schemas.microsoft.com/office/drawing/2014/main" id="{BADE4968-237A-C545-40D3-420944DDDE8E}"/>
              </a:ext>
            </a:extLst>
          </p:cNvPr>
          <p:cNvSpPr/>
          <p:nvPr/>
        </p:nvSpPr>
        <p:spPr>
          <a:xfrm rot="19547382">
            <a:off x="-129196" y="4524716"/>
            <a:ext cx="2567709" cy="780195"/>
          </a:xfrm>
          <a:prstGeom prst="arc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8D88862D-1A17-569D-F38C-FDFD0C97EA9A}"/>
              </a:ext>
            </a:extLst>
          </p:cNvPr>
          <p:cNvSpPr/>
          <p:nvPr/>
        </p:nvSpPr>
        <p:spPr>
          <a:xfrm rot="19547382" flipV="1">
            <a:off x="-1244915" y="3502223"/>
            <a:ext cx="2567709" cy="711893"/>
          </a:xfrm>
          <a:prstGeom prst="arc">
            <a:avLst>
              <a:gd name="adj1" fmla="val 16200000"/>
              <a:gd name="adj2" fmla="val 2146540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1540BE5-65AB-05F1-C022-B3F79BEDEDE2}"/>
              </a:ext>
            </a:extLst>
          </p:cNvPr>
          <p:cNvCxnSpPr>
            <a:stCxn id="11" idx="1"/>
            <a:endCxn id="13" idx="0"/>
          </p:cNvCxnSpPr>
          <p:nvPr/>
        </p:nvCxnSpPr>
        <p:spPr>
          <a:xfrm rot="10800000" flipV="1">
            <a:off x="2064524" y="1551413"/>
            <a:ext cx="3264858" cy="2437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5AC27C4-E032-42A0-B14E-A21A1040E941}"/>
              </a:ext>
            </a:extLst>
          </p:cNvPr>
          <p:cNvCxnSpPr>
            <a:cxnSpLocks/>
            <a:stCxn id="11" idx="3"/>
            <a:endCxn id="2054" idx="0"/>
          </p:cNvCxnSpPr>
          <p:nvPr/>
        </p:nvCxnSpPr>
        <p:spPr>
          <a:xfrm>
            <a:off x="6061652" y="1551413"/>
            <a:ext cx="3933712" cy="5092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93009E-7DA8-C509-8BF4-182971E304CA}"/>
              </a:ext>
            </a:extLst>
          </p:cNvPr>
          <p:cNvSpPr txBox="1"/>
          <p:nvPr/>
        </p:nvSpPr>
        <p:spPr>
          <a:xfrm>
            <a:off x="4994797" y="1843901"/>
            <a:ext cx="14778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Entra ID</a:t>
            </a:r>
          </a:p>
          <a:p>
            <a:r>
              <a:rPr lang="de-DE" sz="1200" b="0" dirty="0"/>
              <a:t>(</a:t>
            </a:r>
            <a:r>
              <a:rPr lang="de-DE" sz="1200" b="0" dirty="0" err="1"/>
              <a:t>or</a:t>
            </a:r>
            <a:r>
              <a:rPr lang="de-DE" sz="1200" b="0" dirty="0"/>
              <a:t> </a:t>
            </a:r>
            <a:r>
              <a:rPr lang="de-DE" sz="1200" b="0" dirty="0" err="1"/>
              <a:t>any</a:t>
            </a:r>
            <a:r>
              <a:rPr lang="de-DE" sz="1200" b="0" dirty="0"/>
              <a:t> </a:t>
            </a:r>
            <a:r>
              <a:rPr lang="de-DE" sz="1200" b="0" dirty="0" err="1"/>
              <a:t>other</a:t>
            </a:r>
            <a:r>
              <a:rPr lang="de-DE" sz="1200" b="0" dirty="0"/>
              <a:t> </a:t>
            </a:r>
            <a:r>
              <a:rPr lang="de-DE" sz="1200" b="0" dirty="0" err="1"/>
              <a:t>IdP</a:t>
            </a:r>
            <a:r>
              <a:rPr lang="de-DE" sz="1200" b="0" dirty="0"/>
              <a:t>)</a:t>
            </a:r>
            <a:endParaRPr lang="en-DE" sz="1200" b="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BE89D9-4732-1017-D996-3B2BCDF04B0C}"/>
              </a:ext>
            </a:extLst>
          </p:cNvPr>
          <p:cNvSpPr txBox="1"/>
          <p:nvPr/>
        </p:nvSpPr>
        <p:spPr>
          <a:xfrm>
            <a:off x="8714315" y="4689640"/>
            <a:ext cx="2562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SAP Fiori Launchpad</a:t>
            </a:r>
            <a:endParaRPr lang="en-DE" sz="1200" b="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01739F1-01F5-7184-37E6-88275925D62F}"/>
              </a:ext>
            </a:extLst>
          </p:cNvPr>
          <p:cNvCxnSpPr/>
          <p:nvPr/>
        </p:nvCxnSpPr>
        <p:spPr>
          <a:xfrm>
            <a:off x="3550439" y="3291265"/>
            <a:ext cx="11666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EB50AC8-9FF4-A9D9-E3B6-B1141E433308}"/>
              </a:ext>
            </a:extLst>
          </p:cNvPr>
          <p:cNvCxnSpPr/>
          <p:nvPr/>
        </p:nvCxnSpPr>
        <p:spPr>
          <a:xfrm>
            <a:off x="6619191" y="3291265"/>
            <a:ext cx="11666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47F373A-6B68-D200-3B75-A2E55CF2777D}"/>
              </a:ext>
            </a:extLst>
          </p:cNvPr>
          <p:cNvSpPr txBox="1"/>
          <p:nvPr/>
        </p:nvSpPr>
        <p:spPr>
          <a:xfrm>
            <a:off x="3429081" y="3001947"/>
            <a:ext cx="12880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username</a:t>
            </a:r>
            <a:r>
              <a:rPr lang="de-DE" sz="1100" dirty="0"/>
              <a:t>/</a:t>
            </a:r>
            <a:r>
              <a:rPr lang="de-DE" sz="1100" dirty="0" err="1"/>
              <a:t>pwd</a:t>
            </a:r>
            <a:endParaRPr lang="en-DE" sz="11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26EB99-986A-66ED-F030-DB057530A6DB}"/>
              </a:ext>
            </a:extLst>
          </p:cNvPr>
          <p:cNvSpPr txBox="1"/>
          <p:nvPr/>
        </p:nvSpPr>
        <p:spPr>
          <a:xfrm>
            <a:off x="3406616" y="3332834"/>
            <a:ext cx="12880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/>
              <a:t>+ MFA</a:t>
            </a:r>
            <a:endParaRPr lang="en-DE" sz="11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5872DF1-0E2F-CACA-5074-FD29C9A0738A}"/>
              </a:ext>
            </a:extLst>
          </p:cNvPr>
          <p:cNvGrpSpPr/>
          <p:nvPr/>
        </p:nvGrpSpPr>
        <p:grpSpPr>
          <a:xfrm>
            <a:off x="5283202" y="4689640"/>
            <a:ext cx="914400" cy="914400"/>
            <a:chOff x="5466686" y="4654942"/>
            <a:chExt cx="914400" cy="914400"/>
          </a:xfrm>
        </p:grpSpPr>
        <p:pic>
          <p:nvPicPr>
            <p:cNvPr id="31" name="Graphic 30" descr="Laptop with solid fill">
              <a:extLst>
                <a:ext uri="{FF2B5EF4-FFF2-40B4-BE49-F238E27FC236}">
                  <a16:creationId xmlns:a16="http://schemas.microsoft.com/office/drawing/2014/main" id="{42AC02E2-53B8-F45C-0276-60285FD5F4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466686" y="4654942"/>
              <a:ext cx="914400" cy="914400"/>
            </a:xfrm>
            <a:prstGeom prst="rect">
              <a:avLst/>
            </a:prstGeom>
          </p:spPr>
        </p:pic>
        <p:pic>
          <p:nvPicPr>
            <p:cNvPr id="33" name="Graphic 32" descr="Alien Face outline">
              <a:extLst>
                <a:ext uri="{FF2B5EF4-FFF2-40B4-BE49-F238E27FC236}">
                  <a16:creationId xmlns:a16="http://schemas.microsoft.com/office/drawing/2014/main" id="{0BC5FE51-D141-0BC6-C2C3-DFE660A25F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232" y="4862572"/>
              <a:ext cx="399308" cy="399308"/>
            </a:xfrm>
            <a:prstGeom prst="rect">
              <a:avLst/>
            </a:prstGeom>
          </p:spPr>
        </p:pic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94E221-AD9C-63C7-FF73-4EA9436092D3}"/>
              </a:ext>
            </a:extLst>
          </p:cNvPr>
          <p:cNvCxnSpPr>
            <a:cxnSpLocks/>
          </p:cNvCxnSpPr>
          <p:nvPr/>
        </p:nvCxnSpPr>
        <p:spPr>
          <a:xfrm>
            <a:off x="5754254" y="3980049"/>
            <a:ext cx="0" cy="7095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12DF365-180F-18CA-FA6C-837D1A4D7EBA}"/>
              </a:ext>
            </a:extLst>
          </p:cNvPr>
          <p:cNvSpPr txBox="1"/>
          <p:nvPr/>
        </p:nvSpPr>
        <p:spPr>
          <a:xfrm>
            <a:off x="4490191" y="4034762"/>
            <a:ext cx="128802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0" dirty="0" err="1"/>
              <a:t>Credentials</a:t>
            </a:r>
            <a:endParaRPr lang="de-DE" sz="1100" b="0" dirty="0"/>
          </a:p>
          <a:p>
            <a:r>
              <a:rPr lang="de-DE" sz="1100" b="0" dirty="0"/>
              <a:t>+</a:t>
            </a:r>
          </a:p>
          <a:p>
            <a:r>
              <a:rPr lang="de-DE" sz="1100" b="0" dirty="0"/>
              <a:t>Session </a:t>
            </a:r>
            <a:r>
              <a:rPr lang="de-DE" sz="1100" b="0" dirty="0" err="1"/>
              <a:t>cookie</a:t>
            </a:r>
            <a:endParaRPr lang="en-DE" sz="1100" b="0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7EBE40C8-093F-08FF-1CA0-A2380A3CB747}"/>
              </a:ext>
            </a:extLst>
          </p:cNvPr>
          <p:cNvCxnSpPr>
            <a:cxnSpLocks/>
            <a:stCxn id="33" idx="2"/>
            <a:endCxn id="24" idx="2"/>
          </p:cNvCxnSpPr>
          <p:nvPr/>
        </p:nvCxnSpPr>
        <p:spPr>
          <a:xfrm rot="5400000" flipH="1" flipV="1">
            <a:off x="7739690" y="3040905"/>
            <a:ext cx="268384" cy="4242961"/>
          </a:xfrm>
          <a:prstGeom prst="bentConnector3">
            <a:avLst>
              <a:gd name="adj1" fmla="val -85176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BDEC703-4D31-7620-C30F-58E805DFAF6A}"/>
              </a:ext>
            </a:extLst>
          </p:cNvPr>
          <p:cNvSpPr txBox="1"/>
          <p:nvPr/>
        </p:nvSpPr>
        <p:spPr>
          <a:xfrm>
            <a:off x="5013492" y="2564419"/>
            <a:ext cx="1477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EvilGinx</a:t>
            </a:r>
            <a:endParaRPr lang="de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CC8E46-40FB-BB06-993E-ACD577B19AC7}"/>
              </a:ext>
            </a:extLst>
          </p:cNvPr>
          <p:cNvSpPr txBox="1"/>
          <p:nvPr/>
        </p:nvSpPr>
        <p:spPr>
          <a:xfrm>
            <a:off x="-221904" y="4745536"/>
            <a:ext cx="1477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Victim</a:t>
            </a: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8AB946-5DE2-E3CB-910D-1B79BA5E01FB}"/>
              </a:ext>
            </a:extLst>
          </p:cNvPr>
          <p:cNvSpPr txBox="1"/>
          <p:nvPr/>
        </p:nvSpPr>
        <p:spPr>
          <a:xfrm>
            <a:off x="5051881" y="5531960"/>
            <a:ext cx="1477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C00000"/>
                </a:solidFill>
              </a:rPr>
              <a:t>Hacker</a:t>
            </a:r>
          </a:p>
        </p:txBody>
      </p:sp>
    </p:spTree>
    <p:extLst>
      <p:ext uri="{BB962C8B-B14F-4D97-AF65-F5344CB8AC3E}">
        <p14:creationId xmlns:p14="http://schemas.microsoft.com/office/powerpoint/2010/main" val="8681631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84525-1731-1EEB-8935-39B312550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ounded Rectangle 4">
            <a:extLst>
              <a:ext uri="{FF2B5EF4-FFF2-40B4-BE49-F238E27FC236}">
                <a16:creationId xmlns:a16="http://schemas.microsoft.com/office/drawing/2014/main" id="{4203E92C-AE7C-4A8D-1776-4E651ACE059C}"/>
              </a:ext>
            </a:extLst>
          </p:cNvPr>
          <p:cNvSpPr/>
          <p:nvPr/>
        </p:nvSpPr>
        <p:spPr>
          <a:xfrm>
            <a:off x="803051" y="1552654"/>
            <a:ext cx="3428966" cy="3752694"/>
          </a:xfrm>
          <a:prstGeom prst="roundRect">
            <a:avLst>
              <a:gd name="adj" fmla="val 4549"/>
            </a:avLst>
          </a:prstGeom>
          <a:solidFill>
            <a:schemeClr val="bg1"/>
          </a:solidFill>
          <a:ln w="19050">
            <a:solidFill>
              <a:srgbClr val="0070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D9626B-49B1-76F8-985A-6AAFD8242C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 dirty="0"/>
              <a:t>SAP ETD </a:t>
            </a:r>
            <a:r>
              <a:rPr lang="de-DE" cap="none" dirty="0" err="1"/>
              <a:t>supplies</a:t>
            </a:r>
            <a:r>
              <a:rPr lang="de-DE" cap="none" dirty="0"/>
              <a:t> </a:t>
            </a:r>
            <a:r>
              <a:rPr lang="de-DE" cap="none" dirty="0" err="1"/>
              <a:t>alerts</a:t>
            </a:r>
            <a:r>
              <a:rPr lang="de-DE" cap="none" dirty="0"/>
              <a:t> </a:t>
            </a:r>
            <a:r>
              <a:rPr lang="de-DE" cap="none" dirty="0" err="1"/>
              <a:t>to</a:t>
            </a:r>
            <a:r>
              <a:rPr lang="de-DE" cap="none" dirty="0"/>
              <a:t> Microsoft Sentinel </a:t>
            </a:r>
            <a:r>
              <a:rPr lang="de-DE" cap="none" dirty="0" err="1"/>
              <a:t>for</a:t>
            </a:r>
            <a:r>
              <a:rPr lang="de-DE" cap="none" dirty="0"/>
              <a:t> </a:t>
            </a:r>
            <a:r>
              <a:rPr lang="de-DE" cap="none" dirty="0" err="1"/>
              <a:t>correlation</a:t>
            </a:r>
            <a:r>
              <a:rPr lang="de-DE" cap="none" dirty="0"/>
              <a:t> </a:t>
            </a:r>
            <a:r>
              <a:rPr lang="de-DE" cap="none" dirty="0" err="1"/>
              <a:t>with</a:t>
            </a:r>
            <a:r>
              <a:rPr lang="de-DE" cap="none" dirty="0"/>
              <a:t> wider IT </a:t>
            </a:r>
            <a:r>
              <a:rPr lang="de-DE" cap="none" dirty="0" err="1"/>
              <a:t>ecosystem</a:t>
            </a:r>
            <a:endParaRPr lang="en-DE" cap="none" dirty="0"/>
          </a:p>
        </p:txBody>
      </p:sp>
      <p:pic>
        <p:nvPicPr>
          <p:cNvPr id="2054" name="Picture 6" descr="SAP Fiori Launchpad | SAP Fiori for Web Design Guidelines">
            <a:extLst>
              <a:ext uri="{FF2B5EF4-FFF2-40B4-BE49-F238E27FC236}">
                <a16:creationId xmlns:a16="http://schemas.microsoft.com/office/drawing/2014/main" id="{2CB06D76-1102-8152-11C8-3C27AAC339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093" y="1891207"/>
            <a:ext cx="2762655" cy="1892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E4C300A-3C4A-3697-CC67-147457DD8307}"/>
              </a:ext>
            </a:extLst>
          </p:cNvPr>
          <p:cNvSpPr txBox="1"/>
          <p:nvPr/>
        </p:nvSpPr>
        <p:spPr>
          <a:xfrm>
            <a:off x="1134372" y="1552653"/>
            <a:ext cx="2562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SAP Fiori Launchpad</a:t>
            </a:r>
            <a:endParaRPr lang="en-DE" sz="1200" b="0" dirty="0"/>
          </a:p>
        </p:txBody>
      </p:sp>
      <p:pic>
        <p:nvPicPr>
          <p:cNvPr id="7" name="Picture 6" descr="A blue shield with a lock&#10;&#10;AI-generated content may be incorrect.">
            <a:extLst>
              <a:ext uri="{FF2B5EF4-FFF2-40B4-BE49-F238E27FC236}">
                <a16:creationId xmlns:a16="http://schemas.microsoft.com/office/drawing/2014/main" id="{6476DC68-86E4-D227-170E-DBD3C6296B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8" y="4017233"/>
            <a:ext cx="1327869" cy="13278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BCF4B40-7700-98C8-28F8-59A37B8F97EC}"/>
              </a:ext>
            </a:extLst>
          </p:cNvPr>
          <p:cNvSpPr txBox="1"/>
          <p:nvPr/>
        </p:nvSpPr>
        <p:spPr>
          <a:xfrm>
            <a:off x="5100038" y="5311324"/>
            <a:ext cx="25620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SAP Enterprise </a:t>
            </a:r>
            <a:r>
              <a:rPr lang="de-DE" dirty="0" err="1"/>
              <a:t>Threat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, </a:t>
            </a:r>
            <a:r>
              <a:rPr lang="de-DE" dirty="0" err="1"/>
              <a:t>cloud</a:t>
            </a:r>
            <a:r>
              <a:rPr lang="de-DE" dirty="0"/>
              <a:t> </a:t>
            </a:r>
            <a:r>
              <a:rPr lang="de-DE" dirty="0" err="1"/>
              <a:t>edition</a:t>
            </a:r>
            <a:endParaRPr lang="en-DE" sz="1200" b="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C5D607C-0707-9EBB-12E8-361AB7BC88B7}"/>
              </a:ext>
            </a:extLst>
          </p:cNvPr>
          <p:cNvCxnSpPr>
            <a:cxnSpLocks/>
            <a:stCxn id="21" idx="3"/>
            <a:endCxn id="7" idx="1"/>
          </p:cNvCxnSpPr>
          <p:nvPr/>
        </p:nvCxnSpPr>
        <p:spPr>
          <a:xfrm>
            <a:off x="3999013" y="4677465"/>
            <a:ext cx="1670265" cy="370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CCD5BA81-8060-B178-077F-66BDE551D3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131" y="4418855"/>
            <a:ext cx="2966882" cy="517219"/>
          </a:xfrm>
          <a:prstGeom prst="rect">
            <a:avLst/>
          </a:prstGeom>
        </p:spPr>
      </p:pic>
      <p:sp>
        <p:nvSpPr>
          <p:cNvPr id="22" name="Arc 21">
            <a:extLst>
              <a:ext uri="{FF2B5EF4-FFF2-40B4-BE49-F238E27FC236}">
                <a16:creationId xmlns:a16="http://schemas.microsoft.com/office/drawing/2014/main" id="{E116922E-256F-D55A-01CC-0FE8C3ADF1E8}"/>
              </a:ext>
            </a:extLst>
          </p:cNvPr>
          <p:cNvSpPr/>
          <p:nvPr/>
        </p:nvSpPr>
        <p:spPr>
          <a:xfrm rot="12830972" flipV="1">
            <a:off x="781655" y="4206210"/>
            <a:ext cx="2567709" cy="711893"/>
          </a:xfrm>
          <a:prstGeom prst="arc">
            <a:avLst>
              <a:gd name="adj1" fmla="val 18341359"/>
              <a:gd name="adj2" fmla="val 2146540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1E5DE59F-5C65-BC40-D5A1-A42B13D847B7}"/>
              </a:ext>
            </a:extLst>
          </p:cNvPr>
          <p:cNvSpPr/>
          <p:nvPr/>
        </p:nvSpPr>
        <p:spPr>
          <a:xfrm rot="19547382">
            <a:off x="1390937" y="4218546"/>
            <a:ext cx="2567709" cy="780195"/>
          </a:xfrm>
          <a:prstGeom prst="arc">
            <a:avLst>
              <a:gd name="adj1" fmla="val 17559337"/>
              <a:gd name="adj2" fmla="val 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32" name="Rounded Rectangle 67">
            <a:extLst>
              <a:ext uri="{FF2B5EF4-FFF2-40B4-BE49-F238E27FC236}">
                <a16:creationId xmlns:a16="http://schemas.microsoft.com/office/drawing/2014/main" id="{07337FC6-37E8-61CC-40E1-BEC5B6DB01F8}"/>
              </a:ext>
            </a:extLst>
          </p:cNvPr>
          <p:cNvSpPr/>
          <p:nvPr/>
        </p:nvSpPr>
        <p:spPr>
          <a:xfrm>
            <a:off x="4435067" y="4613844"/>
            <a:ext cx="563732" cy="127239"/>
          </a:xfrm>
          <a:prstGeom prst="roundRect">
            <a:avLst>
              <a:gd name="adj" fmla="val 50000"/>
            </a:avLst>
          </a:prstGeom>
          <a:solidFill>
            <a:srgbClr val="354A5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>
                <a:solidFill>
                  <a:schemeClr val="bg1"/>
                </a:solidFill>
                <a:latin typeface="72" panose="020B0503030000000003" pitchFamily="34" charset="0"/>
                <a:cs typeface="72" panose="020B0503030000000003" pitchFamily="34" charset="0"/>
              </a:rPr>
              <a:t>https</a:t>
            </a:r>
            <a:endParaRPr lang="en-DE" sz="1200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9B094D87-ACEB-9348-9CE8-CB8117A9A1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98911" y="2837501"/>
            <a:ext cx="1002610" cy="100261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CEE7D759-83BE-95D8-893C-01E6199F73AC}"/>
              </a:ext>
            </a:extLst>
          </p:cNvPr>
          <p:cNvSpPr txBox="1"/>
          <p:nvPr/>
        </p:nvSpPr>
        <p:spPr>
          <a:xfrm>
            <a:off x="8719168" y="2321712"/>
            <a:ext cx="25620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Microsoft Sentinel</a:t>
            </a:r>
          </a:p>
          <a:p>
            <a:r>
              <a:rPr lang="de-DE" dirty="0" err="1"/>
              <a:t>for</a:t>
            </a:r>
            <a:r>
              <a:rPr lang="de-DE" dirty="0"/>
              <a:t> SAP</a:t>
            </a:r>
            <a:endParaRPr lang="en-DE" sz="1200" b="0" dirty="0"/>
          </a:p>
        </p:txBody>
      </p:sp>
      <p:cxnSp>
        <p:nvCxnSpPr>
          <p:cNvPr id="45" name="Elbow Connector 128">
            <a:extLst>
              <a:ext uri="{FF2B5EF4-FFF2-40B4-BE49-F238E27FC236}">
                <a16:creationId xmlns:a16="http://schemas.microsoft.com/office/drawing/2014/main" id="{89E883C0-21F2-C86F-85D9-19C5BB52236E}"/>
              </a:ext>
            </a:extLst>
          </p:cNvPr>
          <p:cNvCxnSpPr>
            <a:cxnSpLocks/>
            <a:stCxn id="43" idx="1"/>
            <a:endCxn id="7" idx="3"/>
          </p:cNvCxnSpPr>
          <p:nvPr/>
        </p:nvCxnSpPr>
        <p:spPr>
          <a:xfrm rot="10800000" flipV="1">
            <a:off x="6997147" y="3338806"/>
            <a:ext cx="2501764" cy="1342362"/>
          </a:xfrm>
          <a:prstGeom prst="bentConnector3">
            <a:avLst>
              <a:gd name="adj1" fmla="val 50000"/>
            </a:avLst>
          </a:prstGeom>
          <a:ln w="19050" cap="rnd">
            <a:solidFill>
              <a:srgbClr val="CC00DC"/>
            </a:solidFill>
            <a:round/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152">
            <a:extLst>
              <a:ext uri="{FF2B5EF4-FFF2-40B4-BE49-F238E27FC236}">
                <a16:creationId xmlns:a16="http://schemas.microsoft.com/office/drawing/2014/main" id="{3A9633E3-2C7F-8063-FD0A-E1683F0AE106}"/>
              </a:ext>
            </a:extLst>
          </p:cNvPr>
          <p:cNvSpPr/>
          <p:nvPr/>
        </p:nvSpPr>
        <p:spPr>
          <a:xfrm>
            <a:off x="8468705" y="3251071"/>
            <a:ext cx="426890" cy="165086"/>
          </a:xfrm>
          <a:prstGeom prst="roundRect">
            <a:avLst>
              <a:gd name="adj" fmla="val 50000"/>
            </a:avLst>
          </a:prstGeom>
          <a:solidFill>
            <a:srgbClr val="CC00DC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800" dirty="0" err="1"/>
              <a:t>OData</a:t>
            </a:r>
            <a:endParaRPr lang="en-DE" sz="800" dirty="0"/>
          </a:p>
        </p:txBody>
      </p:sp>
    </p:spTree>
    <p:extLst>
      <p:ext uri="{BB962C8B-B14F-4D97-AF65-F5344CB8AC3E}">
        <p14:creationId xmlns:p14="http://schemas.microsoft.com/office/powerpoint/2010/main" val="3873100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910B77-A82D-F3CA-64E8-7FAD46439AB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/>
              <a:t>Der Faktor Mensch</a:t>
            </a:r>
            <a:endParaRPr lang="en-DE" cap="non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9C92A53-1552-C5D7-5636-7E36114B8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4" y="2419181"/>
            <a:ext cx="4480086" cy="37639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4A2229F-3215-C148-61D3-11779F803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86" y="1212630"/>
            <a:ext cx="4796724" cy="11860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C03F169-0941-397A-A3F2-BFE5BB0507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09" t="16899"/>
          <a:stretch/>
        </p:blipFill>
        <p:spPr>
          <a:xfrm>
            <a:off x="6381086" y="1684963"/>
            <a:ext cx="4103367" cy="39318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73747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AB526C4-A10E-DE9E-AC81-68E76A7E6C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8814" y="1341438"/>
            <a:ext cx="4892242" cy="1992890"/>
          </a:xfrm>
        </p:spPr>
        <p:txBody>
          <a:bodyPr/>
          <a:lstStyle/>
          <a:p>
            <a:pPr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sz="1600" dirty="0">
                <a:hlinkClick r:id="rId2"/>
              </a:rPr>
              <a:t>Crescendo </a:t>
            </a:r>
            <a:r>
              <a:rPr lang="de-DE" sz="1600" dirty="0" err="1">
                <a:hlinkClick r:id="rId2"/>
              </a:rPr>
              <a:t>attack</a:t>
            </a:r>
            <a:endParaRPr lang="de-DE" sz="1600" dirty="0"/>
          </a:p>
          <a:p>
            <a:pPr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sz="1600" dirty="0">
                <a:hlinkClick r:id="rId3"/>
              </a:rPr>
              <a:t>Skeleton Key </a:t>
            </a:r>
            <a:r>
              <a:rPr lang="de-DE" sz="1600" dirty="0" err="1">
                <a:hlinkClick r:id="rId3"/>
              </a:rPr>
              <a:t>attack</a:t>
            </a:r>
            <a:endParaRPr lang="de-DE" sz="1600" dirty="0"/>
          </a:p>
          <a:p>
            <a:pPr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sz="1600" dirty="0" err="1">
                <a:hlinkClick r:id="rId4"/>
              </a:rPr>
              <a:t>Past</a:t>
            </a:r>
            <a:r>
              <a:rPr lang="de-DE" sz="1600" dirty="0">
                <a:hlinkClick r:id="rId4"/>
              </a:rPr>
              <a:t> </a:t>
            </a:r>
            <a:r>
              <a:rPr lang="de-DE" sz="1600" dirty="0" err="1">
                <a:hlinkClick r:id="rId4"/>
              </a:rPr>
              <a:t>tense</a:t>
            </a:r>
            <a:r>
              <a:rPr lang="de-DE" sz="1600" dirty="0">
                <a:hlinkClick r:id="rId4"/>
              </a:rPr>
              <a:t> </a:t>
            </a:r>
            <a:r>
              <a:rPr lang="de-DE" sz="1600" dirty="0" err="1">
                <a:hlinkClick r:id="rId4"/>
              </a:rPr>
              <a:t>prompts</a:t>
            </a:r>
            <a:endParaRPr lang="de-DE" sz="1600" dirty="0"/>
          </a:p>
          <a:p>
            <a:pPr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sz="1600" dirty="0" err="1"/>
              <a:t>Claiming</a:t>
            </a:r>
            <a:r>
              <a:rPr lang="de-DE" sz="1600" dirty="0"/>
              <a:t> an </a:t>
            </a:r>
            <a:r>
              <a:rPr lang="de-DE" sz="1600" dirty="0" err="1"/>
              <a:t>educational</a:t>
            </a:r>
            <a:r>
              <a:rPr lang="de-DE" sz="1600" dirty="0"/>
              <a:t> </a:t>
            </a:r>
            <a:r>
              <a:rPr lang="de-DE" sz="1600" dirty="0" err="1"/>
              <a:t>environment</a:t>
            </a:r>
            <a:r>
              <a:rPr lang="de-DE" sz="1600" dirty="0"/>
              <a:t> </a:t>
            </a:r>
            <a:r>
              <a:rPr lang="de-DE" sz="1600" dirty="0" err="1"/>
              <a:t>to</a:t>
            </a:r>
            <a:r>
              <a:rPr lang="de-DE" sz="1600" dirty="0"/>
              <a:t> </a:t>
            </a:r>
            <a:r>
              <a:rPr lang="de-DE" sz="1600" dirty="0" err="1"/>
              <a:t>prevent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attack</a:t>
            </a:r>
            <a:endParaRPr lang="en-DE" sz="16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910B77-A82D-F3CA-64E8-7FAD46439AB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 dirty="0"/>
              <a:t>AI-Assistenten werden sukzessive besser in der Vermeidung von Missbrauch, ABER</a:t>
            </a:r>
            <a:endParaRPr lang="en-DE" cap="non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5965F6-DCA9-4429-2C06-43003DBCB9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3518" y="2083882"/>
            <a:ext cx="3686181" cy="32465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B1DB53-2D35-473D-57D8-502452E3B8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2799" y="1527536"/>
            <a:ext cx="4892243" cy="4412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A36F4B3-FEB5-3A6B-3734-9F3D96F4297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4441" y="3334328"/>
            <a:ext cx="2820494" cy="29787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5644AF-09CE-6A66-849D-3FD8CEB6F4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61674" y="3071906"/>
            <a:ext cx="4960604" cy="20746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FE6719C-AA48-CE5C-2A3F-CDA4DD8815BD}"/>
              </a:ext>
            </a:extLst>
          </p:cNvPr>
          <p:cNvSpPr/>
          <p:nvPr/>
        </p:nvSpPr>
        <p:spPr>
          <a:xfrm>
            <a:off x="1248032" y="3550508"/>
            <a:ext cx="226541" cy="78259"/>
          </a:xfrm>
          <a:prstGeom prst="rect">
            <a:avLst/>
          </a:prstGeom>
          <a:solidFill>
            <a:srgbClr val="EDEFF7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8F3234-6CCC-21A6-A217-8478EEFAE09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2756" y="1419765"/>
            <a:ext cx="10126488" cy="44106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787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D3269E9-8142-0BA7-1019-ED7990E473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Docker/</a:t>
            </a:r>
            <a:r>
              <a:rPr lang="de-DE" dirty="0" err="1"/>
              <a:t>Podman</a:t>
            </a:r>
            <a:r>
              <a:rPr lang="de-DE" dirty="0"/>
              <a:t> Desktop neustarten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Nutzung privater Browser-Tabs (</a:t>
            </a:r>
            <a:r>
              <a:rPr lang="de-DE" dirty="0" err="1"/>
              <a:t>cookie</a:t>
            </a:r>
            <a:r>
              <a:rPr lang="de-DE" dirty="0"/>
              <a:t> </a:t>
            </a:r>
            <a:r>
              <a:rPr lang="de-DE" dirty="0" err="1"/>
              <a:t>extension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private </a:t>
            </a:r>
            <a:r>
              <a:rPr lang="de-DE" dirty="0" err="1"/>
              <a:t>window</a:t>
            </a:r>
            <a:r>
              <a:rPr lang="de-DE" dirty="0"/>
              <a:t> freigeben nicht vergessen!)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GitHub Repository </a:t>
            </a:r>
            <a:r>
              <a:rPr lang="de-DE" dirty="0" err="1"/>
              <a:t>guide</a:t>
            </a:r>
            <a:r>
              <a:rPr lang="de-DE" dirty="0"/>
              <a:t> und dort die Tipps, </a:t>
            </a:r>
            <a:r>
              <a:rPr lang="de-DE" dirty="0" err="1"/>
              <a:t>Warnings</a:t>
            </a:r>
            <a:r>
              <a:rPr lang="de-DE" dirty="0"/>
              <a:t>, und wichtige Hinweise prüfen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Wenn nötig </a:t>
            </a:r>
            <a:r>
              <a:rPr lang="de-DE" dirty="0" err="1"/>
              <a:t>Evilginx</a:t>
            </a:r>
            <a:r>
              <a:rPr lang="de-DE" dirty="0"/>
              <a:t> „</a:t>
            </a:r>
            <a:r>
              <a:rPr lang="de-DE" dirty="0" err="1"/>
              <a:t>blacklist</a:t>
            </a:r>
            <a:r>
              <a:rPr lang="de-DE" dirty="0"/>
              <a:t> off“ einschalten</a:t>
            </a:r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34EDC-FA4D-A6AA-DD7C-A122E59802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 dirty="0"/>
              <a:t>Hinweise zum Troubleshooting</a:t>
            </a:r>
            <a:endParaRPr lang="en-DE" cap="none" dirty="0"/>
          </a:p>
        </p:txBody>
      </p:sp>
    </p:spTree>
    <p:extLst>
      <p:ext uri="{BB962C8B-B14F-4D97-AF65-F5344CB8AC3E}">
        <p14:creationId xmlns:p14="http://schemas.microsoft.com/office/powerpoint/2010/main" val="7090400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FAEA69-F1B6-BB42-F0B7-B8A7069EB1B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 dirty="0"/>
              <a:t>Having </a:t>
            </a:r>
            <a:r>
              <a:rPr lang="de-DE" cap="none" dirty="0" err="1"/>
              <a:t>fun</a:t>
            </a:r>
            <a:r>
              <a:rPr lang="de-DE" cap="none" dirty="0"/>
              <a:t> </a:t>
            </a:r>
            <a:r>
              <a:rPr lang="de-DE" cap="none" dirty="0" err="1"/>
              <a:t>hacking</a:t>
            </a:r>
            <a:endParaRPr lang="en-DE" cap="none" dirty="0"/>
          </a:p>
        </p:txBody>
      </p:sp>
      <p:pic>
        <p:nvPicPr>
          <p:cNvPr id="5" name="Picture 4" descr="Screens screenshot of a computer screen&#10;&#10;Description automatically generated">
            <a:extLst>
              <a:ext uri="{FF2B5EF4-FFF2-40B4-BE49-F238E27FC236}">
                <a16:creationId xmlns:a16="http://schemas.microsoft.com/office/drawing/2014/main" id="{878FDCBD-18E2-3425-2B92-1B91A35848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5" y="1428423"/>
            <a:ext cx="6848146" cy="46659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6616FCF4-03D8-357E-9A93-3C633792F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5586" y="2806541"/>
            <a:ext cx="4404014" cy="21195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689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8CC65B-427E-E779-BBF4-95004DB32E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Rank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cases</a:t>
            </a:r>
            <a:r>
              <a:rPr lang="de-DE" dirty="0"/>
              <a:t>👇</a:t>
            </a:r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3178F-79F2-B494-8446-07BC7A3B44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 dirty="0" err="1"/>
              <a:t>Where</a:t>
            </a:r>
            <a:r>
              <a:rPr lang="de-DE" cap="none" dirty="0"/>
              <a:t> </a:t>
            </a:r>
            <a:r>
              <a:rPr lang="de-DE" cap="none" dirty="0" err="1"/>
              <a:t>to</a:t>
            </a:r>
            <a:r>
              <a:rPr lang="de-DE" cap="none" dirty="0"/>
              <a:t> </a:t>
            </a:r>
            <a:r>
              <a:rPr lang="de-DE" cap="none" dirty="0" err="1"/>
              <a:t>go</a:t>
            </a:r>
            <a:r>
              <a:rPr lang="de-DE" cap="none" dirty="0"/>
              <a:t> </a:t>
            </a:r>
            <a:r>
              <a:rPr lang="de-DE" cap="none" dirty="0" err="1"/>
              <a:t>from</a:t>
            </a:r>
            <a:r>
              <a:rPr lang="de-DE" cap="none" dirty="0"/>
              <a:t> </a:t>
            </a:r>
            <a:r>
              <a:rPr lang="de-DE" cap="none" dirty="0" err="1"/>
              <a:t>here</a:t>
            </a:r>
            <a:r>
              <a:rPr lang="de-DE" cap="none" dirty="0"/>
              <a:t> </a:t>
            </a:r>
            <a:r>
              <a:rPr lang="de-DE" cap="none" dirty="0" err="1"/>
              <a:t>with</a:t>
            </a:r>
            <a:r>
              <a:rPr lang="de-DE" cap="none" dirty="0"/>
              <a:t> </a:t>
            </a:r>
            <a:r>
              <a:rPr lang="de-DE" cap="none" dirty="0" err="1"/>
              <a:t>the</a:t>
            </a:r>
            <a:r>
              <a:rPr lang="de-DE" cap="none" dirty="0"/>
              <a:t> </a:t>
            </a:r>
            <a:r>
              <a:rPr lang="de-DE" cap="none" dirty="0" err="1"/>
              <a:t>partnership</a:t>
            </a:r>
            <a:r>
              <a:rPr lang="de-DE" cap="none" dirty="0"/>
              <a:t> </a:t>
            </a:r>
            <a:r>
              <a:rPr lang="de-DE" cap="none" dirty="0" err="1"/>
              <a:t>between</a:t>
            </a:r>
            <a:r>
              <a:rPr lang="de-DE" cap="none" dirty="0"/>
              <a:t> ETD and Sentinel?</a:t>
            </a:r>
            <a:endParaRPr lang="en-DE" cap="none" dirty="0"/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F2D2E83E-C221-6E07-A10E-6B4DDCA410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104" y="2213113"/>
            <a:ext cx="390525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4912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835FD7-6049-355C-7C89-608A0A566C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 dirty="0"/>
              <a:t>Raise </a:t>
            </a:r>
            <a:r>
              <a:rPr lang="de-DE" cap="none" dirty="0" err="1"/>
              <a:t>the</a:t>
            </a:r>
            <a:r>
              <a:rPr lang="de-DE" cap="none" dirty="0"/>
              <a:t> bar </a:t>
            </a:r>
            <a:r>
              <a:rPr lang="de-DE" cap="none" dirty="0" err="1"/>
              <a:t>for</a:t>
            </a:r>
            <a:r>
              <a:rPr lang="de-DE" cap="none" dirty="0"/>
              <a:t> </a:t>
            </a:r>
            <a:r>
              <a:rPr lang="de-DE" cap="none" dirty="0" err="1"/>
              <a:t>your</a:t>
            </a:r>
            <a:r>
              <a:rPr lang="de-DE" cap="none" dirty="0"/>
              <a:t> SAP </a:t>
            </a:r>
            <a:r>
              <a:rPr lang="de-DE" cap="none" dirty="0" err="1"/>
              <a:t>sign</a:t>
            </a:r>
            <a:r>
              <a:rPr lang="de-DE" cap="none" dirty="0"/>
              <a:t>-ins </a:t>
            </a:r>
            <a:r>
              <a:rPr lang="de-DE" cap="none" dirty="0" err="1"/>
              <a:t>from</a:t>
            </a:r>
            <a:r>
              <a:rPr lang="de-DE" cap="none" dirty="0"/>
              <a:t> </a:t>
            </a:r>
            <a:r>
              <a:rPr lang="de-DE" cap="none" dirty="0" err="1"/>
              <a:t>better</a:t>
            </a:r>
            <a:r>
              <a:rPr lang="de-DE" cap="none" dirty="0"/>
              <a:t> </a:t>
            </a:r>
            <a:r>
              <a:rPr lang="de-DE" cap="none" dirty="0" err="1"/>
              <a:t>to</a:t>
            </a:r>
            <a:r>
              <a:rPr lang="de-DE" cap="none" dirty="0"/>
              <a:t> </a:t>
            </a:r>
            <a:r>
              <a:rPr lang="de-DE" cap="none"/>
              <a:t>best</a:t>
            </a:r>
            <a:endParaRPr lang="en-DE" cap="none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33C3932-8E64-609B-B6C1-5B379ADD52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32747" y="1105027"/>
            <a:ext cx="9296986" cy="52505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B7A9A3-23BF-1FD1-0083-E4491D1A8262}"/>
              </a:ext>
            </a:extLst>
          </p:cNvPr>
          <p:cNvSpPr txBox="1"/>
          <p:nvPr/>
        </p:nvSpPr>
        <p:spPr>
          <a:xfrm>
            <a:off x="2934501" y="6453134"/>
            <a:ext cx="6893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hlinkClick r:id="rId3"/>
              </a:rPr>
              <a:t>Microsoft </a:t>
            </a:r>
            <a:r>
              <a:rPr lang="de-DE" dirty="0" err="1">
                <a:hlinkClick r:id="rId3"/>
              </a:rPr>
              <a:t>Digitial</a:t>
            </a:r>
            <a:r>
              <a:rPr lang="de-DE" dirty="0">
                <a:hlinkClick r:id="rId3"/>
              </a:rPr>
              <a:t> Defense Report 2024</a:t>
            </a:r>
            <a:r>
              <a:rPr lang="de-DE" dirty="0"/>
              <a:t>	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460642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5BD36-6EB6-5A79-8780-1AED4716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211B70-0EB5-EFD6-AB9F-7EAAFD9660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5939" y="152400"/>
            <a:ext cx="11278898" cy="685800"/>
          </a:xfrm>
        </p:spPr>
        <p:txBody>
          <a:bodyPr/>
          <a:lstStyle/>
          <a:p>
            <a:r>
              <a:rPr lang="de-DE" cap="none" dirty="0">
                <a:solidFill>
                  <a:schemeClr val="bg1"/>
                </a:solidFill>
              </a:rPr>
              <a:t>Roadmap-Wünsche, Feedback und Projekt-Ideen gerne im Gespräch direkt an uns.</a:t>
            </a:r>
            <a:endParaRPr lang="en-DE" cap="none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F89485-AF5C-5B8A-6751-9064AA093542}"/>
              </a:ext>
            </a:extLst>
          </p:cNvPr>
          <p:cNvSpPr txBox="1"/>
          <p:nvPr/>
        </p:nvSpPr>
        <p:spPr>
          <a:xfrm>
            <a:off x="4068618" y="2955637"/>
            <a:ext cx="4054764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dirty="0">
                <a:hlinkClick r:id="rId2"/>
              </a:rPr>
              <a:t>📬martin.pankraz@microsoft.com</a:t>
            </a:r>
            <a:endParaRPr lang="de-DE" dirty="0"/>
          </a:p>
          <a:p>
            <a:pPr algn="l"/>
            <a:r>
              <a:rPr lang="de-DE" dirty="0">
                <a:hlinkClick r:id="rId3"/>
              </a:rPr>
              <a:t>📬michael.schmitt@sap.com</a:t>
            </a:r>
            <a:endParaRPr lang="de-DE" dirty="0"/>
          </a:p>
          <a:p>
            <a:pPr algn="l"/>
            <a:endParaRPr lang="de-DE" dirty="0"/>
          </a:p>
          <a:p>
            <a:pPr algn="l"/>
            <a:r>
              <a:rPr lang="de-DE" dirty="0"/>
              <a:t>      </a:t>
            </a:r>
            <a:r>
              <a:rPr lang="de-DE" sz="1200" dirty="0">
                <a:hlinkClick r:id="rId4"/>
              </a:rPr>
              <a:t>https://www.linkedin.com/in/martin-pankraz/</a:t>
            </a:r>
            <a:endParaRPr lang="de-DE" sz="1200" dirty="0"/>
          </a:p>
          <a:p>
            <a:pPr algn="l"/>
            <a:r>
              <a:rPr lang="de-DE" sz="1200" dirty="0"/>
              <a:t>         </a:t>
            </a:r>
            <a:endParaRPr lang="en-DE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EC8F94-DA9D-0558-AFD8-3D1E2AE361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7909" y="3858547"/>
            <a:ext cx="257436" cy="257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36B4004E-3865-5F1D-628C-FAA859ADDC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7768" y="1863823"/>
            <a:ext cx="3137401" cy="37235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9942701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D3DA88-5F4A-9424-EB97-45F8699C816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cap="none" dirty="0"/>
              <a:t>Secure SAP app integration with Microsoft	</a:t>
            </a:r>
            <a:endParaRPr lang="en-DE" cap="none" dirty="0"/>
          </a:p>
        </p:txBody>
      </p:sp>
      <p:pic>
        <p:nvPicPr>
          <p:cNvPr id="1026" name="Picture 2" descr="Architecture overview showing integration between Power Platform and SAP services using SSO via Azure API Management">
            <a:extLst>
              <a:ext uri="{FF2B5EF4-FFF2-40B4-BE49-F238E27FC236}">
                <a16:creationId xmlns:a16="http://schemas.microsoft.com/office/drawing/2014/main" id="{4F5F85F2-E7B9-F1F8-4E24-0123B5CF14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82" y="1253871"/>
            <a:ext cx="10040595" cy="5451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712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1E76C-AD68-98BD-9E27-2986F5B4E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 dirty="0"/>
              <a:t>Official </a:t>
            </a:r>
            <a:r>
              <a:rPr lang="de-DE" cap="none" dirty="0" err="1"/>
              <a:t>configurations</a:t>
            </a:r>
            <a:r>
              <a:rPr lang="de-DE" cap="none" dirty="0"/>
              <a:t> on </a:t>
            </a:r>
            <a:r>
              <a:rPr lang="de-DE" cap="none" dirty="0">
                <a:hlinkClick r:id="rId2"/>
              </a:rPr>
              <a:t>SAP API hub</a:t>
            </a:r>
            <a:r>
              <a:rPr lang="de-DE" cap="none" dirty="0"/>
              <a:t> and </a:t>
            </a:r>
            <a:r>
              <a:rPr lang="de-DE" cap="none" dirty="0">
                <a:hlinkClick r:id="rId3"/>
              </a:rPr>
              <a:t>Azure </a:t>
            </a:r>
            <a:r>
              <a:rPr lang="de-DE" cap="none" dirty="0" err="1">
                <a:hlinkClick r:id="rId3"/>
              </a:rPr>
              <a:t>platform</a:t>
            </a:r>
            <a:endParaRPr lang="de-DE" cap="none" dirty="0"/>
          </a:p>
          <a:p>
            <a:r>
              <a:rPr lang="de-DE" cap="none" dirty="0" err="1"/>
              <a:t>give</a:t>
            </a:r>
            <a:r>
              <a:rPr lang="de-DE" cap="none" dirty="0"/>
              <a:t> </a:t>
            </a:r>
            <a:r>
              <a:rPr lang="de-DE" cap="none" dirty="0" err="1"/>
              <a:t>piece</a:t>
            </a:r>
            <a:r>
              <a:rPr lang="de-DE" cap="none" dirty="0"/>
              <a:t> </a:t>
            </a:r>
            <a:r>
              <a:rPr lang="de-DE" cap="none" dirty="0" err="1"/>
              <a:t>of</a:t>
            </a:r>
            <a:r>
              <a:rPr lang="de-DE" cap="none" dirty="0"/>
              <a:t> </a:t>
            </a:r>
            <a:r>
              <a:rPr lang="de-DE" cap="none" dirty="0" err="1"/>
              <a:t>mind</a:t>
            </a:r>
            <a:endParaRPr lang="en-DE" cap="none"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EB3B3E8-FFB1-95AF-AD2E-D8B34F7206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7035" y="1211552"/>
            <a:ext cx="5907264" cy="4116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2681E9-F886-110B-4F2A-700E783E8D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736" y="1211552"/>
            <a:ext cx="5907264" cy="4434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97603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B064E3-6B0C-956A-F6D6-E3E97A6DAD5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 dirty="0" err="1"/>
              <a:t>Where</a:t>
            </a:r>
            <a:r>
              <a:rPr lang="de-DE" cap="none" dirty="0"/>
              <a:t> APIM </a:t>
            </a:r>
            <a:r>
              <a:rPr lang="de-DE" cap="none" dirty="0" err="1"/>
              <a:t>integration</a:t>
            </a:r>
            <a:r>
              <a:rPr lang="de-DE" cap="none" dirty="0"/>
              <a:t> </a:t>
            </a:r>
            <a:r>
              <a:rPr lang="de-DE" cap="none" dirty="0" err="1"/>
              <a:t>with</a:t>
            </a:r>
            <a:r>
              <a:rPr lang="de-DE" cap="none" dirty="0"/>
              <a:t> SAP </a:t>
            </a:r>
            <a:r>
              <a:rPr lang="de-DE" cap="none" dirty="0" err="1"/>
              <a:t>should</a:t>
            </a:r>
            <a:r>
              <a:rPr lang="de-DE" cap="none" dirty="0"/>
              <a:t> </a:t>
            </a:r>
            <a:r>
              <a:rPr lang="de-DE" cap="none" dirty="0" err="1"/>
              <a:t>focus</a:t>
            </a:r>
            <a:r>
              <a:rPr lang="de-DE" cap="none" dirty="0"/>
              <a:t> </a:t>
            </a:r>
            <a:r>
              <a:rPr lang="de-DE" cap="none" dirty="0" err="1"/>
              <a:t>next</a:t>
            </a:r>
            <a:r>
              <a:rPr lang="de-DE" cap="none" dirty="0"/>
              <a:t>? 👇</a:t>
            </a:r>
            <a:endParaRPr lang="en-DE" cap="none" dirty="0"/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6FE33588-0BD9-3EEF-81F6-66B292DDC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50" y="1485072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9316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816210-10AB-3A26-8B1F-BF68667302C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ADDEB101-0803-F825-31C5-DC82E16D36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50" y="1465194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2554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0E697-6D4E-6EA4-B0AF-19C93072FA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8961" y="1878151"/>
            <a:ext cx="10795414" cy="3628128"/>
          </a:xfrm>
        </p:spPr>
        <p:txBody>
          <a:bodyPr/>
          <a:lstStyle/>
          <a:p>
            <a:r>
              <a:rPr lang="en-US" sz="4800" dirty="0">
                <a:hlinkClick r:id="rId2"/>
              </a:rPr>
              <a:t>https://aka.ms/techxchange-msft</a:t>
            </a:r>
            <a:endParaRPr lang="en-US" sz="4800" dirty="0"/>
          </a:p>
          <a:p>
            <a:r>
              <a:rPr lang="en-US" sz="4800" dirty="0">
                <a:hlinkClick r:id="rId3"/>
              </a:rPr>
              <a:t>https://aka.ms/sneaky-goggles</a:t>
            </a:r>
            <a:r>
              <a:rPr lang="en-US" sz="4800" dirty="0"/>
              <a:t> </a:t>
            </a:r>
            <a:endParaRPr lang="en-DE" sz="48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27C8FC-E535-1114-7836-5641C7F7221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Ready, Set, GO!</a:t>
            </a:r>
            <a:endParaRPr lang="en-DE" dirty="0"/>
          </a:p>
        </p:txBody>
      </p:sp>
      <p:pic>
        <p:nvPicPr>
          <p:cNvPr id="2050" name="Picture 2" descr="Github Logo - Free social media icons">
            <a:extLst>
              <a:ext uri="{FF2B5EF4-FFF2-40B4-BE49-F238E27FC236}">
                <a16:creationId xmlns:a16="http://schemas.microsoft.com/office/drawing/2014/main" id="{9B43B401-16DC-F686-8AD2-4338E2C134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628" y="2016952"/>
            <a:ext cx="569843" cy="569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EED5F5-EC46-5EFF-4CAC-1B7B010B7144}"/>
              </a:ext>
            </a:extLst>
          </p:cNvPr>
          <p:cNvSpPr txBox="1"/>
          <p:nvPr/>
        </p:nvSpPr>
        <p:spPr>
          <a:xfrm>
            <a:off x="330166" y="3272803"/>
            <a:ext cx="85476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👀</a:t>
            </a:r>
            <a:endParaRPr lang="en-DE" sz="4000" dirty="0"/>
          </a:p>
        </p:txBody>
      </p:sp>
    </p:spTree>
    <p:extLst>
      <p:ext uri="{BB962C8B-B14F-4D97-AF65-F5344CB8AC3E}">
        <p14:creationId xmlns:p14="http://schemas.microsoft.com/office/powerpoint/2010/main" val="2281975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D6CF82-58CE-04FC-B810-03839F2002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5939" y="152400"/>
            <a:ext cx="11278898" cy="685800"/>
          </a:xfrm>
        </p:spPr>
        <p:txBody>
          <a:bodyPr/>
          <a:lstStyle/>
          <a:p>
            <a:r>
              <a:rPr lang="de-DE" cap="none" dirty="0">
                <a:solidFill>
                  <a:schemeClr val="bg1"/>
                </a:solidFill>
              </a:rPr>
              <a:t>Roadmap-Wünsche, Feedback und Projekt-Ideen gerne im Gespräch direkt an uns. Link bleibt 30 Tage offen.</a:t>
            </a:r>
            <a:endParaRPr lang="en-DE" cap="none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124854-82E8-5FA6-70F4-B05E56483A67}"/>
              </a:ext>
            </a:extLst>
          </p:cNvPr>
          <p:cNvSpPr txBox="1"/>
          <p:nvPr/>
        </p:nvSpPr>
        <p:spPr>
          <a:xfrm>
            <a:off x="4068618" y="2955637"/>
            <a:ext cx="4054764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dirty="0">
                <a:hlinkClick r:id="rId2"/>
              </a:rPr>
              <a:t>📬martin.pankraz@microsoft.com</a:t>
            </a:r>
            <a:endParaRPr lang="de-DE" dirty="0"/>
          </a:p>
          <a:p>
            <a:pPr algn="l"/>
            <a:r>
              <a:rPr lang="de-DE" dirty="0">
                <a:hlinkClick r:id="rId3"/>
              </a:rPr>
              <a:t>📬holger.bruchelt@microsoft.com</a:t>
            </a:r>
            <a:endParaRPr lang="de-DE" dirty="0"/>
          </a:p>
          <a:p>
            <a:pPr algn="l"/>
            <a:endParaRPr lang="de-DE" dirty="0"/>
          </a:p>
          <a:p>
            <a:pPr algn="l"/>
            <a:r>
              <a:rPr lang="de-DE" dirty="0"/>
              <a:t>      </a:t>
            </a:r>
            <a:r>
              <a:rPr lang="de-DE" sz="1200" dirty="0">
                <a:hlinkClick r:id="rId4"/>
              </a:rPr>
              <a:t>https://www.linkedin.com/in/martin-pankraz/</a:t>
            </a:r>
            <a:endParaRPr lang="de-DE" sz="1200" dirty="0"/>
          </a:p>
          <a:p>
            <a:pPr algn="l"/>
            <a:r>
              <a:rPr lang="de-DE" sz="1200" dirty="0"/>
              <a:t>        </a:t>
            </a:r>
            <a:r>
              <a:rPr lang="de-DE" sz="1200" dirty="0">
                <a:hlinkClick r:id="rId5"/>
              </a:rPr>
              <a:t>https://www.linkedin.com/in/holger-bruchelt/</a:t>
            </a:r>
            <a:r>
              <a:rPr lang="de-DE" sz="1200" dirty="0"/>
              <a:t> </a:t>
            </a:r>
            <a:endParaRPr lang="en-DE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ED5C6A7-1F45-DDDF-845D-83DBC134E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7909" y="3858547"/>
            <a:ext cx="257436" cy="257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2322587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1_DSAG-Technologietage 2024">
  <a:themeElements>
    <a:clrScheme name="Benutzerdefiniert 10">
      <a:dk1>
        <a:srgbClr val="4C4C4C"/>
      </a:dk1>
      <a:lt1>
        <a:srgbClr val="FFFFFF"/>
      </a:lt1>
      <a:dk2>
        <a:srgbClr val="FFFFFF"/>
      </a:dk2>
      <a:lt2>
        <a:srgbClr val="B2B2B2"/>
      </a:lt2>
      <a:accent1>
        <a:srgbClr val="00475B"/>
      </a:accent1>
      <a:accent2>
        <a:srgbClr val="EB5C3F"/>
      </a:accent2>
      <a:accent3>
        <a:srgbClr val="00B3C4"/>
      </a:accent3>
      <a:accent4>
        <a:srgbClr val="121B46"/>
      </a:accent4>
      <a:accent5>
        <a:srgbClr val="2BAC66"/>
      </a:accent5>
      <a:accent6>
        <a:srgbClr val="01324C"/>
      </a:accent6>
      <a:hlink>
        <a:srgbClr val="6679D8"/>
      </a:hlink>
      <a:folHlink>
        <a:srgbClr val="00B3C4"/>
      </a:folHlink>
    </a:clrScheme>
    <a:fontScheme name="DSAG-Jahreskongress 2009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9FC9E9"/>
        </a:solidFill>
        <a:ln w="9525">
          <a:solidFill>
            <a:schemeClr val="accent1"/>
          </a:solidFill>
        </a:ln>
      </a:spPr>
      <a:bodyPr rtlCol="0" anchor="ctr"/>
      <a:lstStyle>
        <a:defPPr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DSAG-Jahreskongress 2009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SAG-Jahreskongress 2009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DD7921"/>
        </a:accent1>
        <a:accent2>
          <a:srgbClr val="5D1915"/>
        </a:accent2>
        <a:accent3>
          <a:srgbClr val="FFFFFF"/>
        </a:accent3>
        <a:accent4>
          <a:srgbClr val="000000"/>
        </a:accent4>
        <a:accent5>
          <a:srgbClr val="EBBEAB"/>
        </a:accent5>
        <a:accent6>
          <a:srgbClr val="531612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9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66900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FAB9AA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0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37022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F8BBAB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27300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F7BCAA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EA690C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F3B9AA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73AE21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BCD3AB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4">
        <a:dk1>
          <a:srgbClr val="111111"/>
        </a:dk1>
        <a:lt1>
          <a:srgbClr val="FFFFFF"/>
        </a:lt1>
        <a:dk2>
          <a:srgbClr val="FFFFFF"/>
        </a:dk2>
        <a:lt2>
          <a:srgbClr val="B2B2B2"/>
        </a:lt2>
        <a:accent1>
          <a:srgbClr val="73AE21"/>
        </a:accent1>
        <a:accent2>
          <a:srgbClr val="266111"/>
        </a:accent2>
        <a:accent3>
          <a:srgbClr val="FFFFFF"/>
        </a:accent3>
        <a:accent4>
          <a:srgbClr val="0D0D0D"/>
        </a:accent4>
        <a:accent5>
          <a:srgbClr val="BCD3AB"/>
        </a:accent5>
        <a:accent6>
          <a:srgbClr val="21570E"/>
        </a:accent6>
        <a:hlink>
          <a:srgbClr val="225196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5">
        <a:dk1>
          <a:srgbClr val="111111"/>
        </a:dk1>
        <a:lt1>
          <a:srgbClr val="FFFFFF"/>
        </a:lt1>
        <a:dk2>
          <a:srgbClr val="FFFFFF"/>
        </a:dk2>
        <a:lt2>
          <a:srgbClr val="B2B2B2"/>
        </a:lt2>
        <a:accent1>
          <a:srgbClr val="7A5E87"/>
        </a:accent1>
        <a:accent2>
          <a:srgbClr val="266111"/>
        </a:accent2>
        <a:accent3>
          <a:srgbClr val="FFFFFF"/>
        </a:accent3>
        <a:accent4>
          <a:srgbClr val="0D0D0D"/>
        </a:accent4>
        <a:accent5>
          <a:srgbClr val="BEB6C3"/>
        </a:accent5>
        <a:accent6>
          <a:srgbClr val="21570E"/>
        </a:accent6>
        <a:hlink>
          <a:srgbClr val="225196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DSAG-JK-2018 Template_final.potx" id="{9F54080D-7973-41C8-8A07-123A2FDAD6C4}" vid="{EBFDDD2A-1193-4788-B583-CD36A00DE47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71401E68100AF4E92CE105866F279B9" ma:contentTypeVersion="17" ma:contentTypeDescription="Ein neues Dokument erstellen." ma:contentTypeScope="" ma:versionID="f11889610d1daed83db45aa70d0d8d97">
  <xsd:schema xmlns:xsd="http://www.w3.org/2001/XMLSchema" xmlns:xs="http://www.w3.org/2001/XMLSchema" xmlns:p="http://schemas.microsoft.com/office/2006/metadata/properties" xmlns:ns2="5ee26d32-4b9a-4442-a06d-1b3b9fef35d2" xmlns:ns3="94085d37-dc5b-4c58-a313-508c2321ad0a" targetNamespace="http://schemas.microsoft.com/office/2006/metadata/properties" ma:root="true" ma:fieldsID="4da0b80672b6042a622693bb24c0d3e5" ns2:_="" ns3:_="">
    <xsd:import namespace="5ee26d32-4b9a-4442-a06d-1b3b9fef35d2"/>
    <xsd:import namespace="94085d37-dc5b-4c58-a313-508c2321ad0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e26d32-4b9a-4442-a06d-1b3b9fef35d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Length (seconds)" ma:internalName="MediaLengthInSeconds" ma:readOnly="true">
      <xsd:simpleType>
        <xsd:restriction base="dms:Unknown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2" nillable="true" ma:taxonomy="true" ma:internalName="lcf76f155ced4ddcb4097134ff3c332f" ma:taxonomyFieldName="MediaServiceImageTags" ma:displayName="Bildmarkierungen" ma:readOnly="false" ma:fieldId="{5cf76f15-5ced-4ddc-b409-7134ff3c332f}" ma:taxonomyMulti="true" ma:sspId="b53bab62-43ea-43ac-8274-592983e83c5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085d37-dc5b-4c58-a313-508c2321ad0a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ed4f28ee-678e-4063-b5c2-75c5bcbd93c6}" ma:internalName="TaxCatchAll" ma:showField="CatchAllData" ma:web="94085d37-dc5b-4c58-a313-508c2321ad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7CDB246-45C3-4259-B61B-34E9ED2A84C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3BCE5A0-CA56-4FFF-B7CE-43702DD29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e26d32-4b9a-4442-a06d-1b3b9fef35d2"/>
    <ds:schemaRef ds:uri="94085d37-dc5b-4c58-a313-508c2321ad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614</Words>
  <Application>Microsoft Office PowerPoint</Application>
  <PresentationFormat>Widescreen</PresentationFormat>
  <Paragraphs>113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6" baseType="lpstr">
      <vt:lpstr>72</vt:lpstr>
      <vt:lpstr>Arial</vt:lpstr>
      <vt:lpstr>Arial Black</vt:lpstr>
      <vt:lpstr>Calibri</vt:lpstr>
      <vt:lpstr>Segoe Sans Text Semibold</vt:lpstr>
      <vt:lpstr>Segoe UI</vt:lpstr>
      <vt:lpstr>Segoe UI Semibold</vt:lpstr>
      <vt:lpstr>Segoe UI Semibold (Headings)</vt:lpstr>
      <vt:lpstr>Segoe UI Variable Small</vt:lpstr>
      <vt:lpstr>Symbol</vt:lpstr>
      <vt:lpstr>Wingdings</vt:lpstr>
      <vt:lpstr>1_DSAG-Technologietage 2024</vt:lpstr>
      <vt:lpstr>TechXChange 2025 – Microsoft Track</vt:lpstr>
      <vt:lpstr>PowerPoint Presentation</vt:lpstr>
      <vt:lpstr>PowerPoint Presentation</vt:lpstr>
      <vt:lpstr>Meeting you where you are in your Agent building journey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Meeting you where you are in your Agent building journey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Christina Jäger</dc:creator>
  <cp:lastModifiedBy>Martin Pankraz (SAP Integration and Security)</cp:lastModifiedBy>
  <cp:revision>263</cp:revision>
  <dcterms:created xsi:type="dcterms:W3CDTF">2018-07-31T15:04:08Z</dcterms:created>
  <dcterms:modified xsi:type="dcterms:W3CDTF">2025-12-10T15:08:55Z</dcterms:modified>
</cp:coreProperties>
</file>