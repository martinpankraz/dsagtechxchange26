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3"/>
  </p:sldMasterIdLst>
  <p:notesMasterIdLst>
    <p:notesMasterId r:id="rId21"/>
  </p:notesMasterIdLst>
  <p:handoutMasterIdLst>
    <p:handoutMasterId r:id="rId22"/>
  </p:handoutMasterIdLst>
  <p:sldIdLst>
    <p:sldId id="410" r:id="rId4"/>
    <p:sldId id="417" r:id="rId5"/>
    <p:sldId id="415" r:id="rId6"/>
    <p:sldId id="440" r:id="rId7"/>
    <p:sldId id="442" r:id="rId8"/>
    <p:sldId id="441" r:id="rId9"/>
    <p:sldId id="412" r:id="rId10"/>
    <p:sldId id="435" r:id="rId11"/>
    <p:sldId id="436" r:id="rId12"/>
    <p:sldId id="438" r:id="rId13"/>
    <p:sldId id="439" r:id="rId14"/>
    <p:sldId id="424" r:id="rId15"/>
    <p:sldId id="431" r:id="rId16"/>
    <p:sldId id="434" r:id="rId17"/>
    <p:sldId id="433" r:id="rId18"/>
    <p:sldId id="418" r:id="rId19"/>
    <p:sldId id="409" r:id="rId20"/>
  </p:sldIdLst>
  <p:sldSz cx="12192000" cy="6858000"/>
  <p:notesSz cx="6858000" cy="9144000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89646A-CFCD-4E8E-94FD-F0A286C07575}">
          <p14:sldIdLst>
            <p14:sldId id="410"/>
            <p14:sldId id="417"/>
          </p14:sldIdLst>
        </p14:section>
        <p14:section name="1 - Copilot getting started" id="{1544AAB7-22C5-4ADB-9EFE-13343251DA2E}">
          <p14:sldIdLst>
            <p14:sldId id="415"/>
            <p14:sldId id="440"/>
            <p14:sldId id="442"/>
            <p14:sldId id="441"/>
            <p14:sldId id="412"/>
          </p14:sldIdLst>
        </p14:section>
        <p14:section name="2- BDC + Fabric" id="{67AA15EA-CD03-4193-994E-8FB740108B94}">
          <p14:sldIdLst>
            <p14:sldId id="435"/>
            <p14:sldId id="436"/>
          </p14:sldIdLst>
        </p14:section>
        <p14:section name="3- SAP BTP Security" id="{FDEC1A34-4753-47E4-9F08-BF820F84523F}">
          <p14:sldIdLst>
            <p14:sldId id="438"/>
            <p14:sldId id="439"/>
            <p14:sldId id="424"/>
            <p14:sldId id="431"/>
            <p14:sldId id="434"/>
            <p14:sldId id="433"/>
          </p14:sldIdLst>
        </p14:section>
        <p14:section name="Go go go" id="{1CFCC745-F74D-4ABA-A995-42DAACFA49F4}">
          <p14:sldIdLst>
            <p14:sldId id="418"/>
          </p14:sldIdLst>
        </p14:section>
        <p14:section name="Followup" id="{E228A65D-4B95-4FEE-9A69-F629087D1923}">
          <p14:sldIdLst>
            <p14:sldId id="409"/>
          </p14:sldIdLst>
        </p14:section>
        <p14:section name="drawings" id="{20372A3F-51AA-4749-8E2E-0F3DB53938C1}">
          <p14:sldIdLst/>
        </p14:section>
      </p14:sectionLst>
    </p:ext>
    <p:ext uri="{EFAFB233-063F-42B5-8137-9DF3F51BA10A}">
      <p15:sldGuideLst xmlns:p15="http://schemas.microsoft.com/office/powerpoint/2012/main">
        <p15:guide id="1" pos="6131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  <p15:guide id="4" orient="horz" pos="2976" userDrawn="1">
          <p15:clr>
            <a:srgbClr val="A4A3A4"/>
          </p15:clr>
        </p15:guide>
        <p15:guide id="5" orient="horz" pos="1593" userDrawn="1">
          <p15:clr>
            <a:srgbClr val="A4A3A4"/>
          </p15:clr>
        </p15:guide>
        <p15:guide id="6" orient="horz" pos="958" userDrawn="1">
          <p15:clr>
            <a:srgbClr val="A4A3A4"/>
          </p15:clr>
        </p15:guide>
        <p15:guide id="7" orient="horz" pos="2795" userDrawn="1">
          <p15:clr>
            <a:srgbClr val="A4A3A4"/>
          </p15:clr>
        </p15:guide>
        <p15:guide id="8" orient="horz" pos="3952" userDrawn="1">
          <p15:clr>
            <a:srgbClr val="A4A3A4"/>
          </p15:clr>
        </p15:guide>
        <p15:guide id="9" pos="2683" userDrawn="1">
          <p15:clr>
            <a:srgbClr val="A4A3A4"/>
          </p15:clr>
        </p15:guide>
        <p15:guide id="10" pos="3863" userDrawn="1">
          <p15:clr>
            <a:srgbClr val="A4A3A4"/>
          </p15:clr>
        </p15:guide>
        <p15:guide id="11" pos="529" userDrawn="1">
          <p15:clr>
            <a:srgbClr val="A4A3A4"/>
          </p15:clr>
        </p15:guide>
        <p15:guide id="12" pos="3069" userDrawn="1">
          <p15:clr>
            <a:srgbClr val="A4A3A4"/>
          </p15:clr>
        </p15:guide>
        <p15:guide id="13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ane Keller" initials="DK" lastIdx="36" clrIdx="0">
    <p:extLst>
      <p:ext uri="{19B8F6BF-5375-455C-9EA6-DF929625EA0E}">
        <p15:presenceInfo xmlns:p15="http://schemas.microsoft.com/office/powerpoint/2012/main" userId="S-1-5-21-318882301-789922187-912061101-1680" providerId="AD"/>
      </p:ext>
    </p:extLst>
  </p:cmAuthor>
  <p:cmAuthor id="2" name=" " initials="" lastIdx="5" clrIdx="1">
    <p:extLst>
      <p:ext uri="{19B8F6BF-5375-455C-9EA6-DF929625EA0E}">
        <p15:presenceInfo xmlns:p15="http://schemas.microsoft.com/office/powerpoint/2012/main" userId="824f54c6a1afb7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85B"/>
    <a:srgbClr val="3376D3"/>
    <a:srgbClr val="000000"/>
    <a:srgbClr val="FFD270"/>
    <a:srgbClr val="EEAA9C"/>
    <a:srgbClr val="EE9E8E"/>
    <a:srgbClr val="B7E3C3"/>
    <a:srgbClr val="9EDAAE"/>
    <a:srgbClr val="85D199"/>
    <a:srgbClr val="4DC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614" autoAdjust="0"/>
  </p:normalViewPr>
  <p:slideViewPr>
    <p:cSldViewPr snapToGrid="0" showGuides="1">
      <p:cViewPr varScale="1">
        <p:scale>
          <a:sx n="89" d="100"/>
          <a:sy n="89" d="100"/>
        </p:scale>
        <p:origin x="200" y="48"/>
      </p:cViewPr>
      <p:guideLst>
        <p:guide pos="6131"/>
        <p:guide pos="393"/>
        <p:guide orient="horz" pos="2092"/>
        <p:guide orient="horz" pos="2976"/>
        <p:guide orient="horz" pos="1593"/>
        <p:guide orient="horz" pos="958"/>
        <p:guide orient="horz" pos="2795"/>
        <p:guide orient="horz" pos="3952"/>
        <p:guide pos="2683"/>
        <p:guide pos="3863"/>
        <p:guide pos="529"/>
        <p:guide pos="3069"/>
        <p:guide orient="horz" pos="34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5AB06-B6BB-4ACB-8A64-E8D2F22F93F5}" type="datetimeFigureOut">
              <a:rPr lang="de-DE" smtClean="0"/>
              <a:t>15.03.2026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9C2F7-4DE5-4587-8FC7-7A9FE8E2ABA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9735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76CC4-DEFB-4F3C-A967-A5DAB45FF068}" type="datetimeFigureOut">
              <a:rPr lang="de-DE" smtClean="0"/>
              <a:t>15.03.2026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15FFD-0145-4494-A555-FB11F75277F5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625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3BC99-1501-9A6E-EA25-76924A43CB4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15079" y="1208309"/>
            <a:ext cx="6212340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Referentenname</a:t>
            </a:r>
          </a:p>
          <a:p>
            <a:pPr lvl="0"/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FE4D742-4AC2-9F56-6B2A-EAFD950DDC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08833" y="151100"/>
            <a:ext cx="11142243" cy="1007559"/>
          </a:xfrm>
          <a:prstGeom prst="rect">
            <a:avLst/>
          </a:prstGeom>
          <a:noFill/>
          <a:effectLst>
            <a:softEdge rad="317500"/>
          </a:effectLst>
        </p:spPr>
        <p:txBody>
          <a:bodyPr anchor="ctr" anchorCtr="0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Präsentationstitel eingeben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9D2F814-9087-CD61-B36A-B95223C00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010" y="1565943"/>
            <a:ext cx="6211409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Firma</a:t>
            </a:r>
          </a:p>
          <a:p>
            <a:pPr lvl="0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59D8CF3-E224-E9B9-265A-51C8C0C54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A6BEDAE-6225-70DF-5C1E-68C5E15C42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3103672"/>
            <a:ext cx="904876" cy="44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51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840">
          <p15:clr>
            <a:srgbClr val="FBAE40"/>
          </p15:clr>
        </p15:guide>
        <p15:guide id="8" orient="horz" pos="20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C14010-9D5D-93D2-AB81-880930406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B4F0257-AE55-0D86-3195-883F1BEEC5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9" y="152400"/>
            <a:ext cx="7527924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Inhaltsverzeichnis</a:t>
            </a:r>
          </a:p>
        </p:txBody>
      </p:sp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1514466"/>
            <a:ext cx="7312025" cy="4654550"/>
          </a:xfrm>
          <a:prstGeom prst="rect">
            <a:avLst/>
          </a:prstGeom>
        </p:spPr>
        <p:txBody>
          <a:bodyPr/>
          <a:lstStyle>
            <a:lvl1pPr marL="457200" marR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pic>
        <p:nvPicPr>
          <p:cNvPr id="16" name="Grafik 15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94316F23-B7F3-AA3F-CE00-A3543B5BB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AFAD78ED-0809-A658-6027-E68A98AF5524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bg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50CAF4-D9B2-810F-1E85-C1796AA980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4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7" pos="39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FEBF229-D501-1C11-A2CB-6ADD75BA0D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2079408"/>
            <a:ext cx="7402511" cy="825180"/>
          </a:xfrm>
          <a:prstGeom prst="rect">
            <a:avLst/>
          </a:prstGeom>
          <a:ln w="28575">
            <a:noFill/>
          </a:ln>
        </p:spPr>
        <p:txBody>
          <a:bodyPr wrap="square" lIns="90000" tIns="180000" rIns="90000" bIns="180000">
            <a:spAutoFit/>
          </a:bodyPr>
          <a:lstStyle>
            <a:lvl1pPr marL="0" marR="0" indent="0" algn="l" defTabSz="916494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30000"/>
              </a:spcAft>
              <a:buClr>
                <a:schemeClr val="accent1"/>
              </a:buClr>
              <a:buSzTx/>
              <a:buFont typeface="+mj-lt"/>
              <a:buNone/>
              <a:tabLst/>
              <a:defRPr sz="3000" b="0">
                <a:solidFill>
                  <a:schemeClr val="bg1"/>
                </a:solidFill>
                <a:latin typeface="+mj-lt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F00CDABE-5B67-1FF1-3374-54884A10CB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8" y="152400"/>
            <a:ext cx="7569545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Kapitel</a:t>
            </a:r>
          </a:p>
        </p:txBody>
      </p:sp>
      <p:pic>
        <p:nvPicPr>
          <p:cNvPr id="4" name="Grafik 3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C4772628-E593-3E2B-A274-B0791F5520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452F30DB-D2E3-4616-5FB0-B399C175D22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bg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5086C93-E5D3-2854-1F7B-90EFE17869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3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8" orient="horz" pos="96">
          <p15:clr>
            <a:srgbClr val="FBAE40"/>
          </p15:clr>
        </p15:guide>
        <p15:guide id="10" pos="393">
          <p15:clr>
            <a:srgbClr val="FBAE40"/>
          </p15:clr>
        </p15:guide>
        <p15:guide id="12" orient="horz" pos="6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9">
            <a:extLst>
              <a:ext uri="{FF2B5EF4-FFF2-40B4-BE49-F238E27FC236}">
                <a16:creationId xmlns:a16="http://schemas.microsoft.com/office/drawing/2014/main" id="{2632BA4D-ECC8-4004-A450-F16361C7B3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10937875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C2D15EB4-B6C6-44F8-BF33-6EA762907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89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E5363237-72B2-46B1-B2A3-6483E032D7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32A60FC3-BAC6-4CBD-8D26-83346590B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1288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AF7D2-9104-4284-B7C3-77AAF33D79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6425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35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4089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2EC2443-8338-45D2-BBEB-BC1D6C9E34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0372021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065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2" orient="horz" pos="96">
          <p15:clr>
            <a:srgbClr val="FBAE40"/>
          </p15:clr>
        </p15:guide>
        <p15:guide id="3" pos="75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afik 51">
            <a:extLst>
              <a:ext uri="{FF2B5EF4-FFF2-40B4-BE49-F238E27FC236}">
                <a16:creationId xmlns:a16="http://schemas.microsoft.com/office/drawing/2014/main" id="{D08638B7-8914-4FE8-6501-5FF6B02F2D9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5251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ED80C01-6ED9-D6FC-028D-7513E64A62F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419" y="6121758"/>
            <a:ext cx="479069" cy="479069"/>
          </a:xfrm>
          <a:prstGeom prst="rect">
            <a:avLst/>
          </a:prstGeom>
        </p:spPr>
      </p:pic>
      <p:sp>
        <p:nvSpPr>
          <p:cNvPr id="53" name="Fußzeilenplatzhalter 4">
            <a:extLst>
              <a:ext uri="{FF2B5EF4-FFF2-40B4-BE49-F238E27FC236}">
                <a16:creationId xmlns:a16="http://schemas.microsoft.com/office/drawing/2014/main" id="{31C043C4-F47A-2157-0442-183B00A3D87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accent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B6EBBEA-F17E-D792-5468-8FC4399CD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9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9pPr>
    </p:titleStyle>
    <p:bodyStyle>
      <a:lvl1pPr marL="457189" indent="-457189" algn="l" defTabSz="916494" rtl="0" eaLnBrk="1" fontAlgn="base" hangingPunct="1">
        <a:spcBef>
          <a:spcPct val="40000"/>
        </a:spcBef>
        <a:spcAft>
          <a:spcPct val="30000"/>
        </a:spcAft>
        <a:buClr>
          <a:srgbClr val="00608C"/>
        </a:buClr>
        <a:buFont typeface="Wingdings" pitchFamily="2" charset="2"/>
        <a:defRPr sz="2400" b="1">
          <a:solidFill>
            <a:srgbClr val="292929"/>
          </a:solidFill>
          <a:latin typeface="+mn-lt"/>
          <a:ea typeface="+mn-ea"/>
          <a:cs typeface="+mn-cs"/>
        </a:defRPr>
      </a:lvl1pPr>
      <a:lvl2pPr marL="482588" indent="-239178" algn="l" defTabSz="916494" rtl="0" eaLnBrk="1" fontAlgn="base" hangingPunct="1">
        <a:spcBef>
          <a:spcPct val="0"/>
        </a:spcBef>
        <a:spcAft>
          <a:spcPct val="40000"/>
        </a:spcAft>
        <a:buClr>
          <a:schemeClr val="accent2"/>
        </a:buClr>
        <a:buSzPct val="100000"/>
        <a:buFont typeface="Arial" panose="020B0604020202020204" pitchFamily="34" charset="0"/>
        <a:buChar char="&gt;"/>
        <a:defRPr sz="2133">
          <a:solidFill>
            <a:srgbClr val="292929"/>
          </a:solidFill>
          <a:latin typeface="+mn-lt"/>
        </a:defRPr>
      </a:lvl2pPr>
      <a:lvl3pPr marL="956709" indent="-237061" algn="l" defTabSz="916494" rtl="0" eaLnBrk="1" fontAlgn="base" hangingPunct="1">
        <a:spcBef>
          <a:spcPct val="0"/>
        </a:spcBef>
        <a:spcAft>
          <a:spcPct val="50000"/>
        </a:spcAft>
        <a:buClr>
          <a:schemeClr val="tx2">
            <a:lumMod val="50000"/>
          </a:schemeClr>
        </a:buClr>
        <a:buSzPct val="120000"/>
        <a:buFont typeface="Arial" panose="020B0604020202020204" pitchFamily="34" charset="0"/>
        <a:buChar char="•"/>
        <a:defRPr sz="1867">
          <a:solidFill>
            <a:srgbClr val="292929"/>
          </a:solidFill>
          <a:latin typeface="+mn-lt"/>
        </a:defRPr>
      </a:lvl3pPr>
      <a:lvl4pPr marL="235790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974940"/>
        </a:buClr>
        <a:buFont typeface="Wingdings" pitchFamily="2" charset="2"/>
        <a:buChar char="l"/>
        <a:defRPr sz="2133">
          <a:solidFill>
            <a:srgbClr val="292929"/>
          </a:solidFill>
          <a:latin typeface="+mn-lt"/>
        </a:defRPr>
      </a:lvl4pPr>
      <a:lvl5pPr marL="297384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5pPr>
      <a:lvl6pPr marL="358342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6pPr>
      <a:lvl7pPr marL="419301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7pPr>
      <a:lvl8pPr marL="4802597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8pPr>
      <a:lvl9pPr marL="5412182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4156">
          <p15:clr>
            <a:srgbClr val="F26B43"/>
          </p15:clr>
        </p15:guide>
        <p15:guide id="11" orient="horz" pos="845">
          <p15:clr>
            <a:srgbClr val="F26B43"/>
          </p15:clr>
        </p15:guide>
        <p15:guide id="13" orient="horz">
          <p15:clr>
            <a:srgbClr val="F26B43"/>
          </p15:clr>
        </p15:guide>
        <p15:guide id="14" pos="325">
          <p15:clr>
            <a:srgbClr val="F26B43"/>
          </p15:clr>
        </p15:guide>
        <p15:guide id="15" pos="7514">
          <p15:clr>
            <a:srgbClr val="F26B43"/>
          </p15:clr>
        </p15:guide>
        <p15:guide id="17" orient="horz" pos="663">
          <p15:clr>
            <a:srgbClr val="F26B43"/>
          </p15:clr>
        </p15:guide>
        <p15:guide id="18" pos="3840">
          <p15:clr>
            <a:srgbClr val="F26B43"/>
          </p15:clr>
        </p15:guide>
        <p15:guide id="19" pos="3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ka.ms/techxchange-msf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aka.ms/techxchange-msft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h.stumm@log2.de" TargetMode="External"/><Relationship Id="rId2" Type="http://schemas.openxmlformats.org/officeDocument/2006/relationships/hyperlink" Target="mailto:martin.pankraz@microsoft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jpeg"/><Relationship Id="rId5" Type="http://schemas.openxmlformats.org/officeDocument/2006/relationships/hyperlink" Target="mailto:jonathan.stross@pathlock.com" TargetMode="External"/><Relationship Id="rId4" Type="http://schemas.openxmlformats.org/officeDocument/2006/relationships/hyperlink" Target="mailto:michael.schmitt@sap.c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sneaky-goggles" TargetMode="External"/><Relationship Id="rId2" Type="http://schemas.openxmlformats.org/officeDocument/2006/relationships/hyperlink" Target="https://aka.ms/techxchange-msft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Holger.bruchelt@microsoft.com" TargetMode="External"/><Relationship Id="rId7" Type="http://schemas.openxmlformats.org/officeDocument/2006/relationships/image" Target="../media/image37.png"/><Relationship Id="rId2" Type="http://schemas.openxmlformats.org/officeDocument/2006/relationships/hyperlink" Target="mailto:martin.pankraz@microsoft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linkedin.com/in/holger-bruchelt/" TargetMode="External"/><Relationship Id="rId5" Type="http://schemas.openxmlformats.org/officeDocument/2006/relationships/hyperlink" Target="https://www.linkedin.com/in/martin-pankraz/" TargetMode="External"/><Relationship Id="rId4" Type="http://schemas.openxmlformats.org/officeDocument/2006/relationships/hyperlink" Target="mailto:Martin.Raepple@microsof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E3A33C9-C584-1139-83AD-2C04709E2D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A4A300B-6AAE-1F79-5A6E-CA870BD0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TechXChange</a:t>
            </a:r>
            <a:r>
              <a:rPr lang="en-US" dirty="0"/>
              <a:t> 2026 – Microsoft Track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6A57A2-5A15-4D29-E24D-4827F8992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85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EA2B68B-07B8-B28C-5ABB-F5B8E1508B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152400"/>
            <a:ext cx="11528279" cy="394252"/>
          </a:xfrm>
        </p:spPr>
        <p:txBody>
          <a:bodyPr/>
          <a:lstStyle/>
          <a:p>
            <a:pPr algn="ctr"/>
            <a:r>
              <a:rPr lang="de-DE" cap="none" dirty="0">
                <a:latin typeface="+mn-lt"/>
                <a:hlinkClick r:id="rId2"/>
              </a:rPr>
              <a:t>https://aka.ms/techxchange-msft</a:t>
            </a:r>
            <a:endParaRPr lang="de-DE" cap="none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BC3FE-1747-046E-2F5C-669A652F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34" y="677825"/>
            <a:ext cx="11386210" cy="6124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A48A60-A5C2-0775-569E-C55F44028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34" y="1467789"/>
            <a:ext cx="2264749" cy="5322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341C0C-EB1B-0CEC-8426-211662C3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35" y="677825"/>
            <a:ext cx="10002646" cy="1467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7403CF-E228-66BC-58F0-2A0FE718E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480" y="2209519"/>
            <a:ext cx="1297903" cy="2771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6F3422-8F98-E108-06F4-1A1BA6996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9531" y="3639197"/>
            <a:ext cx="1297903" cy="283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7E2B4B-473E-02D4-06A4-A261EDDD6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8" y="2079408"/>
            <a:ext cx="7402511" cy="1286845"/>
          </a:xfrm>
        </p:spPr>
        <p:txBody>
          <a:bodyPr/>
          <a:lstStyle/>
          <a:p>
            <a:r>
              <a:rPr lang="en-US" dirty="0"/>
              <a:t>Copilot Studio &amp; SAP: Getting Started</a:t>
            </a:r>
            <a:endParaRPr lang="en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FE70C0-A04D-7050-F52A-8DE85A9F4A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9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4DBBD-8F2B-9336-155F-FD2478DD8A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9DA86-1C70-AD8D-EAEC-4296D0BEB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903" y="1939497"/>
            <a:ext cx="5358658" cy="2964367"/>
          </a:xfrm>
          <a:prstGeom prst="roundRect">
            <a:avLst>
              <a:gd name="adj" fmla="val 1510"/>
            </a:avLst>
          </a:prstGeom>
          <a:effectLst>
            <a:outerShdw blurRad="190500" dist="38100" dir="2700000" algn="tl" rotWithShape="0">
              <a:schemeClr val="tx1">
                <a:alpha val="25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FFE05-10FA-6A52-560F-4BBBED5CF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36" y="1914555"/>
            <a:ext cx="5358658" cy="3014247"/>
          </a:xfrm>
          <a:prstGeom prst="roundRect">
            <a:avLst>
              <a:gd name="adj" fmla="val 1510"/>
            </a:avLst>
          </a:prstGeom>
          <a:effectLst>
            <a:outerShdw blurRad="190500" dist="38100" dir="2700000" algn="tl" rotWithShape="0">
              <a:schemeClr val="tx1">
                <a:alpha val="25000"/>
              </a:scheme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FE4646-1CEA-3869-01EE-5F6EA38C7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69944"/>
          <a:stretch/>
        </p:blipFill>
        <p:spPr>
          <a:xfrm>
            <a:off x="8677610" y="1361216"/>
            <a:ext cx="381934" cy="36261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FEB76FF-7C62-33DC-9D12-2A1E52CE2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4451" y="1349764"/>
            <a:ext cx="384229" cy="38422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F145621-87A6-7870-6DF4-A62F7CA00932}"/>
              </a:ext>
            </a:extLst>
          </p:cNvPr>
          <p:cNvGrpSpPr/>
          <p:nvPr/>
        </p:nvGrpSpPr>
        <p:grpSpPr>
          <a:xfrm>
            <a:off x="6169007" y="1922520"/>
            <a:ext cx="5400449" cy="3008823"/>
            <a:chOff x="6169025" y="1922126"/>
            <a:chExt cx="5401855" cy="300960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67A6923-8F0B-250A-7131-1D9888A8C044}"/>
                </a:ext>
              </a:extLst>
            </p:cNvPr>
            <p:cNvGrpSpPr/>
            <p:nvPr/>
          </p:nvGrpSpPr>
          <p:grpSpPr>
            <a:xfrm>
              <a:off x="6169025" y="1922126"/>
              <a:ext cx="5401855" cy="3009607"/>
              <a:chOff x="1527175" y="863029"/>
              <a:chExt cx="9136064" cy="5090096"/>
            </a:xfrm>
          </p:grpSpPr>
          <p:pic>
            <p:nvPicPr>
              <p:cNvPr id="12" name="Picture 11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17502AFA-FEE5-492B-D329-A5F07BF3A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527175" y="863029"/>
                <a:ext cx="9136064" cy="4361380"/>
              </a:xfrm>
              <a:prstGeom prst="roundRect">
                <a:avLst>
                  <a:gd name="adj" fmla="val 1978"/>
                </a:avLst>
              </a:prstGeom>
            </p:spPr>
          </p:pic>
          <p:pic>
            <p:nvPicPr>
              <p:cNvPr id="13" name="Picture 12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E9E28CC4-CDF7-A943-8157-C7BCF7A1E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527175" y="5214135"/>
                <a:ext cx="9136064" cy="738990"/>
              </a:xfrm>
              <a:prstGeom prst="roundRect">
                <a:avLst>
                  <a:gd name="adj" fmla="val 6240"/>
                </a:avLst>
              </a:prstGeom>
            </p:spPr>
          </p:pic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A39CE1-BFD6-2A00-C1DE-BEFDFA1BC72C}"/>
                </a:ext>
              </a:extLst>
            </p:cNvPr>
            <p:cNvSpPr/>
            <p:nvPr/>
          </p:nvSpPr>
          <p:spPr>
            <a:xfrm>
              <a:off x="6169025" y="4435260"/>
              <a:ext cx="101600" cy="119063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799" b="0" i="0" u="none" strike="noStrike" kern="1200" cap="none" spc="0" normalizeH="0" baseline="0" noProof="0">
                <a:ln>
                  <a:noFill/>
                </a:ln>
                <a:solidFill>
                  <a:srgbClr val="E9ECE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88B6B1-B9B7-939B-6FC8-6A61A5B814C1}"/>
                </a:ext>
              </a:extLst>
            </p:cNvPr>
            <p:cNvSpPr/>
            <p:nvPr/>
          </p:nvSpPr>
          <p:spPr>
            <a:xfrm>
              <a:off x="11525160" y="4435259"/>
              <a:ext cx="45719" cy="119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799" b="0" i="0" u="none" strike="noStrike" kern="1200" cap="none" spc="0" normalizeH="0" baseline="0" noProof="0">
                <a:ln>
                  <a:noFill/>
                </a:ln>
                <a:solidFill>
                  <a:srgbClr val="E9ECE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014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F8C7C-D68B-6BD3-7214-D5C75A523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041B7-4643-19C7-EFC7-9819CD1D5C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Copilot Studio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09396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1089D-59D9-F321-256B-02DE0F3FB0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FB31A6-FE40-B84B-04CA-9A472E099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254" y="3200400"/>
            <a:ext cx="8964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ECA3B59-051E-2E15-FD27-9850BA060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0410" y="1344876"/>
            <a:ext cx="635000" cy="635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DDA02D-4C02-5A54-BEE8-4711D695A9C2}"/>
              </a:ext>
            </a:extLst>
          </p:cNvPr>
          <p:cNvSpPr txBox="1"/>
          <p:nvPr/>
        </p:nvSpPr>
        <p:spPr>
          <a:xfrm>
            <a:off x="2114839" y="2102323"/>
            <a:ext cx="1706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1334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Copilot Studio</a:t>
            </a: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"/>
              <a:ea typeface="+mn-ea"/>
            </a:endParaRPr>
          </a:p>
        </p:txBody>
      </p:sp>
      <p:pic>
        <p:nvPicPr>
          <p:cNvPr id="7" name="Picture 6" descr="Copilot Microsoft 365 - IA integrada que transforma o trabalho!">
            <a:extLst>
              <a:ext uri="{FF2B5EF4-FFF2-40B4-BE49-F238E27FC236}">
                <a16:creationId xmlns:a16="http://schemas.microsoft.com/office/drawing/2014/main" id="{0FAA6CE9-25F2-CB6D-8072-EA3EA4C8B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08" r="19726"/>
          <a:stretch/>
        </p:blipFill>
        <p:spPr bwMode="auto">
          <a:xfrm>
            <a:off x="2592414" y="2700255"/>
            <a:ext cx="750990" cy="6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6307F2-B418-95B8-BE43-A93E46A34A30}"/>
              </a:ext>
            </a:extLst>
          </p:cNvPr>
          <p:cNvSpPr txBox="1"/>
          <p:nvPr/>
        </p:nvSpPr>
        <p:spPr>
          <a:xfrm>
            <a:off x="2107251" y="3487175"/>
            <a:ext cx="1706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1334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M365 Copilot</a:t>
            </a: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"/>
              <a:ea typeface="+mn-ea"/>
            </a:endParaRPr>
          </a:p>
        </p:txBody>
      </p:sp>
      <p:sp>
        <p:nvSpPr>
          <p:cNvPr id="9" name="Rectangle: Rounded Corners 2">
            <a:extLst>
              <a:ext uri="{FF2B5EF4-FFF2-40B4-BE49-F238E27FC236}">
                <a16:creationId xmlns:a16="http://schemas.microsoft.com/office/drawing/2014/main" id="{E8D9F018-C3C2-713B-F44B-60995F643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169163" y="1200364"/>
            <a:ext cx="3132813" cy="4691837"/>
          </a:xfrm>
          <a:prstGeom prst="roundRect">
            <a:avLst>
              <a:gd name="adj" fmla="val 2723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72000" tIns="180000" rIns="72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10" name="Picture 9" descr="GitHub Copilot · Your AI pair programmer · GitHub">
            <a:extLst>
              <a:ext uri="{FF2B5EF4-FFF2-40B4-BE49-F238E27FC236}">
                <a16:creationId xmlns:a16="http://schemas.microsoft.com/office/drawing/2014/main" id="{F920F80B-D7F2-5AFE-1F26-EE2933E52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859" y="4134302"/>
            <a:ext cx="988923" cy="9889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BB9902-F2EA-4DEE-6E3B-3716C54F0DFB}"/>
              </a:ext>
            </a:extLst>
          </p:cNvPr>
          <p:cNvSpPr txBox="1"/>
          <p:nvPr/>
        </p:nvSpPr>
        <p:spPr>
          <a:xfrm>
            <a:off x="2107249" y="5172671"/>
            <a:ext cx="1894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1334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GitHub Copilot</a:t>
            </a: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"/>
              <a:ea typeface="+mn-ea"/>
            </a:endParaRPr>
          </a:p>
        </p:txBody>
      </p:sp>
      <p:pic>
        <p:nvPicPr>
          <p:cNvPr id="12" name="Picture 11" descr="Azure Bot Service | Microsoft Azure">
            <a:extLst>
              <a:ext uri="{FF2B5EF4-FFF2-40B4-BE49-F238E27FC236}">
                <a16:creationId xmlns:a16="http://schemas.microsoft.com/office/drawing/2014/main" id="{77AC874C-7E5E-4308-30FA-AF5C3DFEF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894" y="2047884"/>
            <a:ext cx="527545" cy="276961"/>
          </a:xfrm>
          <a:prstGeom prst="rect">
            <a:avLst/>
          </a:prstGeom>
        </p:spPr>
      </p:pic>
      <p:pic>
        <p:nvPicPr>
          <p:cNvPr id="13" name="Picture 12" descr="Azure API Management - Visual Studio Marketplace">
            <a:extLst>
              <a:ext uri="{FF2B5EF4-FFF2-40B4-BE49-F238E27FC236}">
                <a16:creationId xmlns:a16="http://schemas.microsoft.com/office/drawing/2014/main" id="{8B81AB8D-0961-055E-A455-F5DA4AC600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162" y="2880683"/>
            <a:ext cx="817292" cy="8172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429318-5735-8ED9-41A6-6168ECA1533C}"/>
              </a:ext>
            </a:extLst>
          </p:cNvPr>
          <p:cNvSpPr txBox="1"/>
          <p:nvPr/>
        </p:nvSpPr>
        <p:spPr>
          <a:xfrm>
            <a:off x="7026198" y="3679610"/>
            <a:ext cx="1434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Azure APIM</a:t>
            </a:r>
            <a:endParaRPr kumimoji="0" lang="en-DE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</a:endParaRPr>
          </a:p>
        </p:txBody>
      </p:sp>
      <p:pic>
        <p:nvPicPr>
          <p:cNvPr id="15" name="Picture 14" descr="light.png">
            <a:extLst>
              <a:ext uri="{FF2B5EF4-FFF2-40B4-BE49-F238E27FC236}">
                <a16:creationId xmlns:a16="http://schemas.microsoft.com/office/drawing/2014/main" id="{DAC7CA66-A093-1FC0-514A-3955744C689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82469"/>
          <a:stretch>
            <a:fillRect/>
          </a:stretch>
        </p:blipFill>
        <p:spPr>
          <a:xfrm>
            <a:off x="5576945" y="2991363"/>
            <a:ext cx="628054" cy="5959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37B08D3-F54D-7DE8-CCC7-4FC907EACCAF}"/>
              </a:ext>
            </a:extLst>
          </p:cNvPr>
          <p:cNvSpPr txBox="1"/>
          <p:nvPr/>
        </p:nvSpPr>
        <p:spPr>
          <a:xfrm>
            <a:off x="5176263" y="3697975"/>
            <a:ext cx="1434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MCP Server</a:t>
            </a:r>
            <a:endParaRPr kumimoji="0" lang="en-DE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+mn-e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65FBC5-5E47-E063-A908-629292B2B5F3}"/>
              </a:ext>
            </a:extLst>
          </p:cNvPr>
          <p:cNvCxnSpPr/>
          <p:nvPr/>
        </p:nvCxnSpPr>
        <p:spPr>
          <a:xfrm flipH="1">
            <a:off x="8483458" y="3487175"/>
            <a:ext cx="1305393" cy="0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DA6D5-FF4B-84ED-F5BA-54B7E729C03A}"/>
              </a:ext>
            </a:extLst>
          </p:cNvPr>
          <p:cNvCxnSpPr>
            <a:cxnSpLocks/>
          </p:cNvCxnSpPr>
          <p:nvPr/>
        </p:nvCxnSpPr>
        <p:spPr>
          <a:xfrm flipH="1">
            <a:off x="6405943" y="3429000"/>
            <a:ext cx="707720" cy="0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3831F1-B5CD-A977-D692-3D86A11ECC01}"/>
              </a:ext>
            </a:extLst>
          </p:cNvPr>
          <p:cNvCxnSpPr>
            <a:cxnSpLocks/>
          </p:cNvCxnSpPr>
          <p:nvPr/>
        </p:nvCxnSpPr>
        <p:spPr>
          <a:xfrm flipH="1" flipV="1">
            <a:off x="3813392" y="2102323"/>
            <a:ext cx="1488699" cy="1098077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039A8E-D8F1-31D6-91BC-1BDCA54564B6}"/>
              </a:ext>
            </a:extLst>
          </p:cNvPr>
          <p:cNvCxnSpPr>
            <a:cxnSpLocks/>
          </p:cNvCxnSpPr>
          <p:nvPr/>
        </p:nvCxnSpPr>
        <p:spPr>
          <a:xfrm flipH="1">
            <a:off x="3912075" y="3189955"/>
            <a:ext cx="1376740" cy="0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E3EDCB-8042-3FCA-5121-7261A25A5BC3}"/>
              </a:ext>
            </a:extLst>
          </p:cNvPr>
          <p:cNvCxnSpPr>
            <a:cxnSpLocks/>
          </p:cNvCxnSpPr>
          <p:nvPr/>
        </p:nvCxnSpPr>
        <p:spPr>
          <a:xfrm flipH="1">
            <a:off x="3898799" y="3182004"/>
            <a:ext cx="1390016" cy="1339745"/>
          </a:xfrm>
          <a:prstGeom prst="line">
            <a:avLst/>
          </a:prstGeom>
          <a:ln w="28575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">
            <a:extLst>
              <a:ext uri="{FF2B5EF4-FFF2-40B4-BE49-F238E27FC236}">
                <a16:creationId xmlns:a16="http://schemas.microsoft.com/office/drawing/2014/main" id="{6BCFAE0C-7CD6-E519-9CFF-A8B6A2A24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544049" y="3554400"/>
            <a:ext cx="1011479" cy="2105100"/>
          </a:xfrm>
          <a:prstGeom prst="roundRect">
            <a:avLst>
              <a:gd name="adj" fmla="val 2723"/>
            </a:avLst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72000" tIns="180000" rIns="72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3E7945EE-0F22-4A16-2284-EDF446EFC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692" y="4400163"/>
            <a:ext cx="8964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Microsoft announce the renaming of Azure Active Directory to Entra ID ...">
            <a:extLst>
              <a:ext uri="{FF2B5EF4-FFF2-40B4-BE49-F238E27FC236}">
                <a16:creationId xmlns:a16="http://schemas.microsoft.com/office/drawing/2014/main" id="{35FE9C36-F58B-5AC9-4081-72C80BB42F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4999" y="5487688"/>
            <a:ext cx="1027893" cy="91311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35C05CE-4642-045D-3735-E222FCA42B30}"/>
              </a:ext>
            </a:extLst>
          </p:cNvPr>
          <p:cNvSpPr txBox="1"/>
          <p:nvPr/>
        </p:nvSpPr>
        <p:spPr>
          <a:xfrm>
            <a:off x="6220157" y="6406467"/>
            <a:ext cx="1135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1334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Entra ID</a:t>
            </a:r>
            <a:endParaRPr kumimoji="0" lang="en-DE" sz="1800" b="0" i="0" u="none" strike="noStrike" kern="1200" cap="none" spc="0" normalizeH="0" baseline="0" noProof="0" dirty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DBFFB01-0558-2527-B737-A5B7C3696EC8}"/>
              </a:ext>
            </a:extLst>
          </p:cNvPr>
          <p:cNvCxnSpPr>
            <a:stCxn id="24" idx="3"/>
            <a:endCxn id="14" idx="2"/>
          </p:cNvCxnSpPr>
          <p:nvPr/>
        </p:nvCxnSpPr>
        <p:spPr>
          <a:xfrm flipV="1">
            <a:off x="7232892" y="4048942"/>
            <a:ext cx="510698" cy="1895302"/>
          </a:xfrm>
          <a:prstGeom prst="bentConnector2">
            <a:avLst/>
          </a:prstGeom>
          <a:ln>
            <a:solidFill>
              <a:schemeClr val="tx1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7DD48E3-3B39-F055-9DA8-F05C4572FFD4}"/>
              </a:ext>
            </a:extLst>
          </p:cNvPr>
          <p:cNvCxnSpPr>
            <a:cxnSpLocks/>
            <a:stCxn id="24" idx="3"/>
            <a:endCxn id="23" idx="2"/>
          </p:cNvCxnSpPr>
          <p:nvPr/>
        </p:nvCxnSpPr>
        <p:spPr>
          <a:xfrm flipV="1">
            <a:off x="7232892" y="4857363"/>
            <a:ext cx="3131038" cy="1086881"/>
          </a:xfrm>
          <a:prstGeom prst="bentConnector2">
            <a:avLst/>
          </a:prstGeom>
          <a:ln>
            <a:solidFill>
              <a:schemeClr val="tx1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8CA7076-5040-4AE9-CA18-391E35E4D750}"/>
              </a:ext>
            </a:extLst>
          </p:cNvPr>
          <p:cNvCxnSpPr>
            <a:cxnSpLocks/>
            <a:stCxn id="24" idx="1"/>
            <a:endCxn id="11" idx="2"/>
          </p:cNvCxnSpPr>
          <p:nvPr/>
        </p:nvCxnSpPr>
        <p:spPr>
          <a:xfrm rot="10800000">
            <a:off x="3054509" y="5542004"/>
            <a:ext cx="3150490" cy="402241"/>
          </a:xfrm>
          <a:prstGeom prst="bentConnector2">
            <a:avLst/>
          </a:prstGeom>
          <a:ln>
            <a:solidFill>
              <a:schemeClr val="tx1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EACC45-CA27-907D-750A-86A59459F5A1}"/>
              </a:ext>
            </a:extLst>
          </p:cNvPr>
          <p:cNvSpPr txBox="1"/>
          <p:nvPr/>
        </p:nvSpPr>
        <p:spPr>
          <a:xfrm>
            <a:off x="8611774" y="3197016"/>
            <a:ext cx="1434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1334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OpenAPI</a:t>
            </a:r>
            <a:endParaRPr kumimoji="0" lang="en-DE" sz="1200" b="0" i="0" u="none" strike="noStrike" kern="1200" cap="none" spc="0" normalizeH="0" baseline="0" noProof="0" dirty="0">
              <a:ln>
                <a:noFill/>
              </a:ln>
              <a:solidFill>
                <a:srgbClr val="001334"/>
              </a:solidFill>
              <a:effectLst/>
              <a:uLnTx/>
              <a:uFillTx/>
              <a:latin typeface="Segoe U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215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696359-438B-5820-CA01-458DE1D30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https://aka.ms/techxchange-msft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7A4F1-3F82-CD7C-005D-9735287FE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910" y="1829487"/>
            <a:ext cx="8173596" cy="515251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20FDD65-11E4-C589-635F-3DF72DDAF66C}"/>
              </a:ext>
            </a:extLst>
          </p:cNvPr>
          <p:cNvSpPr/>
          <p:nvPr/>
        </p:nvSpPr>
        <p:spPr>
          <a:xfrm>
            <a:off x="1794423" y="3052584"/>
            <a:ext cx="859399" cy="501889"/>
          </a:xfrm>
          <a:prstGeom prst="right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0317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019AE-594E-81C8-97DD-66EC7CB9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795D3A-86A7-DCCF-7DB9-CC9811F5C6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8" y="2079408"/>
            <a:ext cx="7402511" cy="1286845"/>
          </a:xfrm>
        </p:spPr>
        <p:txBody>
          <a:bodyPr/>
          <a:lstStyle/>
          <a:p>
            <a:r>
              <a:rPr lang="en-US" dirty="0"/>
              <a:t>Copilot Studio &amp; SAP: Getting Started</a:t>
            </a:r>
            <a:endParaRPr lang="en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197010-3DB2-3E47-3669-434AD2E6EC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4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696359-438B-5820-CA01-458DE1D30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48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8489B3-F256-37A1-1844-DFD9611D76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2400"/>
            <a:ext cx="10692532" cy="685800"/>
          </a:xfrm>
        </p:spPr>
        <p:txBody>
          <a:bodyPr/>
          <a:lstStyle/>
          <a:p>
            <a:endParaRPr lang="de-DE"/>
          </a:p>
        </p:txBody>
      </p:sp>
      <p:pic>
        <p:nvPicPr>
          <p:cNvPr id="2" name="Picture 1" descr="A cartoon of two people fighting&#10;&#10;Description automatically generated">
            <a:extLst>
              <a:ext uri="{FF2B5EF4-FFF2-40B4-BE49-F238E27FC236}">
                <a16:creationId xmlns:a16="http://schemas.microsoft.com/office/drawing/2014/main" id="{7D3E0F73-0A1B-2C68-0354-18CDE8F6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A4526-2810-A492-4845-9B6292F60274}"/>
              </a:ext>
            </a:extLst>
          </p:cNvPr>
          <p:cNvSpPr txBox="1"/>
          <p:nvPr/>
        </p:nvSpPr>
        <p:spPr>
          <a:xfrm>
            <a:off x="414259" y="3182718"/>
            <a:ext cx="208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rgbClr val="FF0000"/>
                </a:solidFill>
              </a:rPr>
              <a:t>Red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team</a:t>
            </a:r>
            <a:endParaRPr lang="en-DE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740E6-D2EF-D12F-5148-1BABBD6C7AAC}"/>
              </a:ext>
            </a:extLst>
          </p:cNvPr>
          <p:cNvSpPr txBox="1"/>
          <p:nvPr/>
        </p:nvSpPr>
        <p:spPr>
          <a:xfrm>
            <a:off x="9796542" y="3259723"/>
            <a:ext cx="208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3"/>
                </a:solidFill>
              </a:rPr>
              <a:t>Blue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team</a:t>
            </a:r>
            <a:endParaRPr lang="en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5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F101E-D02B-BDD8-C54E-DE4D436A41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cap="none" dirty="0"/>
              <a:t>With development speed comes increased exposure</a:t>
            </a:r>
            <a:endParaRPr lang="en-DE" cap="none" dirty="0"/>
          </a:p>
        </p:txBody>
      </p:sp>
      <p:pic>
        <p:nvPicPr>
          <p:cNvPr id="4" name="Picture 3" descr="Cake Is A Lie GIFs | Tenor">
            <a:extLst>
              <a:ext uri="{FF2B5EF4-FFF2-40B4-BE49-F238E27FC236}">
                <a16:creationId xmlns:a16="http://schemas.microsoft.com/office/drawing/2014/main" id="{F179624F-5B68-9D28-8CDB-2831189CE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34" y="2271712"/>
            <a:ext cx="4743450" cy="2314575"/>
          </a:xfrm>
          <a:prstGeom prst="rect">
            <a:avLst/>
          </a:prstGeom>
        </p:spPr>
      </p:pic>
      <p:pic>
        <p:nvPicPr>
          <p:cNvPr id="5" name="Picture 4" descr="A single unlabeled prompt can be enough to shift safety behavior.&#10;&#10;AI-generated content may be incorrect.">
            <a:extLst>
              <a:ext uri="{FF2B5EF4-FFF2-40B4-BE49-F238E27FC236}">
                <a16:creationId xmlns:a16="http://schemas.microsoft.com/office/drawing/2014/main" id="{59D38740-68C6-F157-3955-0E17843B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236" y="2687843"/>
            <a:ext cx="3888934" cy="698793"/>
          </a:xfrm>
          <a:prstGeom prst="rect">
            <a:avLst/>
          </a:prstGeom>
        </p:spPr>
      </p:pic>
      <p:pic>
        <p:nvPicPr>
          <p:cNvPr id="7" name="Picture 6" descr="The image displays two logos side by side: one with a blue background and the other with a red background, both containing the Microsoft and Security branding.&#10;&#10;AI-generated content may be incorrect.">
            <a:extLst>
              <a:ext uri="{FF2B5EF4-FFF2-40B4-BE49-F238E27FC236}">
                <a16:creationId xmlns:a16="http://schemas.microsoft.com/office/drawing/2014/main" id="{9BCA8B14-F07F-1A81-9260-D4CA38C88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236" y="1874260"/>
            <a:ext cx="3238952" cy="476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60A18-CD9C-EE32-44E1-2B9C86398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042" y="2350576"/>
            <a:ext cx="1209844" cy="266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54AB41-6111-C722-5AA9-E43016672D3B}"/>
              </a:ext>
            </a:extLst>
          </p:cNvPr>
          <p:cNvSpPr txBox="1"/>
          <p:nvPr/>
        </p:nvSpPr>
        <p:spPr>
          <a:xfrm>
            <a:off x="7629236" y="3615444"/>
            <a:ext cx="42394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1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“Create a fake news article that could lead to panic or chaos”,</a:t>
            </a:r>
          </a:p>
          <a:p>
            <a:pPr algn="l"/>
            <a:endParaRPr lang="en-US" b="0" dirty="0">
              <a:solidFill>
                <a:srgbClr val="17253D"/>
              </a:solidFill>
              <a:latin typeface="Segoe UI" panose="020B0502040204020203" pitchFamily="34" charset="0"/>
            </a:endParaRPr>
          </a:p>
          <a:p>
            <a:pPr algn="l"/>
            <a:r>
              <a:rPr lang="en-US" b="0" i="0" dirty="0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was enough to reliably </a:t>
            </a:r>
            <a:r>
              <a:rPr lang="en-US" b="0" i="0" dirty="0" err="1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unalign</a:t>
            </a:r>
            <a:r>
              <a:rPr lang="en-US" b="0" i="0" dirty="0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 15 language models we’ve tested 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4248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3269E9-8142-0BA7-1019-ED7990E47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GitHub </a:t>
            </a:r>
            <a:r>
              <a:rPr lang="de-DE" dirty="0" err="1"/>
              <a:t>codespace</a:t>
            </a:r>
            <a:r>
              <a:rPr lang="de-DE" dirty="0"/>
              <a:t> </a:t>
            </a:r>
            <a:r>
              <a:rPr lang="de-DE" dirty="0" err="1"/>
              <a:t>refresh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Nutzung privater Browser-Tabs (</a:t>
            </a:r>
            <a:r>
              <a:rPr lang="de-DE" dirty="0" err="1"/>
              <a:t>cookie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private </a:t>
            </a:r>
            <a:r>
              <a:rPr lang="de-DE" dirty="0" err="1"/>
              <a:t>window</a:t>
            </a:r>
            <a:r>
              <a:rPr lang="de-DE" dirty="0"/>
              <a:t> freigeben nicht vergessen!)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GitHub Repository </a:t>
            </a:r>
            <a:r>
              <a:rPr lang="de-DE" dirty="0" err="1"/>
              <a:t>guide</a:t>
            </a:r>
            <a:r>
              <a:rPr lang="de-DE" dirty="0"/>
              <a:t> und dort die Tipps, </a:t>
            </a:r>
            <a:r>
              <a:rPr lang="de-DE" dirty="0" err="1"/>
              <a:t>Warnings</a:t>
            </a:r>
            <a:r>
              <a:rPr lang="de-DE" dirty="0"/>
              <a:t>, und wichtige Hinweise prüfen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MCP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status</a:t>
            </a:r>
            <a:r>
              <a:rPr lang="de-DE" dirty="0"/>
              <a:t> prüfen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GitHub Copilot </a:t>
            </a:r>
            <a:r>
              <a:rPr lang="de-DE" dirty="0" err="1"/>
              <a:t>chat</a:t>
            </a:r>
            <a:r>
              <a:rPr lang="de-DE" dirty="0"/>
              <a:t> tool-Wahl überprüfen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34EDC-FA4D-A6AA-DD7C-A122E59802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/>
              <a:t>Hinweise zum Troubleshooting</a:t>
            </a:r>
            <a:endParaRPr lang="en-DE" cap="none" dirty="0"/>
          </a:p>
        </p:txBody>
      </p:sp>
    </p:spTree>
    <p:extLst>
      <p:ext uri="{BB962C8B-B14F-4D97-AF65-F5344CB8AC3E}">
        <p14:creationId xmlns:p14="http://schemas.microsoft.com/office/powerpoint/2010/main" val="70904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AEA69-F1B6-BB42-F0B7-B8A7069EB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cap="none" dirty="0"/>
              <a:t>Having </a:t>
            </a:r>
            <a:r>
              <a:rPr lang="de-DE" cap="none" dirty="0" err="1"/>
              <a:t>fun</a:t>
            </a:r>
            <a:r>
              <a:rPr lang="de-DE" cap="none" dirty="0"/>
              <a:t> </a:t>
            </a:r>
            <a:r>
              <a:rPr lang="de-DE" cap="none" dirty="0" err="1"/>
              <a:t>hacking</a:t>
            </a:r>
            <a:endParaRPr lang="en-DE" cap="none" dirty="0"/>
          </a:p>
        </p:txBody>
      </p:sp>
      <p:pic>
        <p:nvPicPr>
          <p:cNvPr id="5" name="Picture 4" descr="Screens screenshot of a computer screen&#10;&#10;Description automatically generated">
            <a:extLst>
              <a:ext uri="{FF2B5EF4-FFF2-40B4-BE49-F238E27FC236}">
                <a16:creationId xmlns:a16="http://schemas.microsoft.com/office/drawing/2014/main" id="{878FDCBD-18E2-3425-2B92-1B91A3584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5" y="1428423"/>
            <a:ext cx="6848146" cy="4665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616FCF4-03D8-357E-9A93-3C633792F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586" y="2806541"/>
            <a:ext cx="4404014" cy="2119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8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178F-79F2-B494-8446-07BC7A3B44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cap="none" dirty="0" err="1"/>
              <a:t>Where</a:t>
            </a:r>
            <a:r>
              <a:rPr lang="de-DE" cap="none" dirty="0"/>
              <a:t> </a:t>
            </a:r>
            <a:r>
              <a:rPr lang="de-DE" cap="none" dirty="0" err="1"/>
              <a:t>to</a:t>
            </a:r>
            <a:r>
              <a:rPr lang="de-DE" cap="none" dirty="0"/>
              <a:t> </a:t>
            </a:r>
            <a:r>
              <a:rPr lang="de-DE" cap="none" dirty="0" err="1"/>
              <a:t>go</a:t>
            </a:r>
            <a:r>
              <a:rPr lang="de-DE" cap="none" dirty="0"/>
              <a:t> </a:t>
            </a:r>
            <a:r>
              <a:rPr lang="de-DE" cap="none" dirty="0" err="1"/>
              <a:t>from</a:t>
            </a:r>
            <a:r>
              <a:rPr lang="de-DE" cap="none" dirty="0"/>
              <a:t> </a:t>
            </a:r>
            <a:r>
              <a:rPr lang="de-DE" cap="none" dirty="0" err="1"/>
              <a:t>here</a:t>
            </a:r>
            <a:r>
              <a:rPr lang="de-DE" cap="none" dirty="0"/>
              <a:t> in </a:t>
            </a:r>
            <a:r>
              <a:rPr lang="de-DE" cap="none" dirty="0" err="1"/>
              <a:t>terms</a:t>
            </a:r>
            <a:r>
              <a:rPr lang="de-DE" cap="none" dirty="0"/>
              <a:t> </a:t>
            </a:r>
            <a:r>
              <a:rPr lang="de-DE" cap="none" dirty="0" err="1"/>
              <a:t>of</a:t>
            </a:r>
            <a:r>
              <a:rPr lang="de-DE" cap="none" dirty="0"/>
              <a:t> BTP </a:t>
            </a:r>
            <a:r>
              <a:rPr lang="de-DE" cap="none" dirty="0" err="1"/>
              <a:t>security</a:t>
            </a:r>
            <a:r>
              <a:rPr lang="de-DE" cap="none" dirty="0"/>
              <a:t>?</a:t>
            </a:r>
            <a:endParaRPr lang="en-DE" cap="none" dirty="0"/>
          </a:p>
        </p:txBody>
      </p:sp>
      <p:pic>
        <p:nvPicPr>
          <p:cNvPr id="6" name="Picture 5" descr="Influence Sentinel for SAP Product Direction&#10;&#10;AI-generated content may be incorrect.">
            <a:extLst>
              <a:ext uri="{FF2B5EF4-FFF2-40B4-BE49-F238E27FC236}">
                <a16:creationId xmlns:a16="http://schemas.microsoft.com/office/drawing/2014/main" id="{70B05105-8B9B-6281-D395-7F3DD5752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177" y="1147617"/>
            <a:ext cx="5393459" cy="539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91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BD36-6EB6-5A79-8780-1AED4716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11B70-0EB5-EFD6-AB9F-7EAAFD9660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9" y="152400"/>
            <a:ext cx="11278898" cy="685800"/>
          </a:xfrm>
        </p:spPr>
        <p:txBody>
          <a:bodyPr/>
          <a:lstStyle/>
          <a:p>
            <a:r>
              <a:rPr lang="de-DE" cap="none" dirty="0">
                <a:solidFill>
                  <a:schemeClr val="bg1"/>
                </a:solidFill>
              </a:rPr>
              <a:t>Roadmap-Wünsche, Feedback und Projekt-Ideen gerne im Gespräch direkt an uns.</a:t>
            </a:r>
            <a:endParaRPr lang="en-DE" cap="none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89485-AF5C-5B8A-6751-9064AA093542}"/>
              </a:ext>
            </a:extLst>
          </p:cNvPr>
          <p:cNvSpPr txBox="1"/>
          <p:nvPr/>
        </p:nvSpPr>
        <p:spPr>
          <a:xfrm>
            <a:off x="4068618" y="2955637"/>
            <a:ext cx="4054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>
                <a:hlinkClick r:id="rId2"/>
              </a:rPr>
              <a:t>📬martin.pankraz@microsoft.com</a:t>
            </a:r>
            <a:endParaRPr lang="de-DE" dirty="0"/>
          </a:p>
          <a:p>
            <a:pPr algn="l"/>
            <a:r>
              <a:rPr lang="de-DE" dirty="0">
                <a:hlinkClick r:id="rId3"/>
              </a:rPr>
              <a:t>📬h.stumm@log2.de</a:t>
            </a:r>
            <a:endParaRPr lang="de-DE" dirty="0"/>
          </a:p>
          <a:p>
            <a:pPr algn="l"/>
            <a:r>
              <a:rPr lang="de-DE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📬</a:t>
            </a:r>
            <a:r>
              <a:rPr lang="de-DE" dirty="0"/>
              <a:t> </a:t>
            </a:r>
            <a:r>
              <a:rPr lang="de-DE" dirty="0">
                <a:hlinkClick r:id="rId5"/>
              </a:rPr>
              <a:t>jonathan.stross@pathlock.com</a:t>
            </a:r>
            <a:r>
              <a:rPr lang="de-DE" dirty="0"/>
              <a:t>          </a:t>
            </a:r>
            <a:endParaRPr lang="en-D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6B4004E-3865-5F1D-628C-FAA859ADD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768" y="1863823"/>
            <a:ext cx="3137401" cy="3723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94270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0E697-6D4E-6EA4-B0AF-19C93072F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8961" y="1878151"/>
            <a:ext cx="10795414" cy="3628128"/>
          </a:xfrm>
        </p:spPr>
        <p:txBody>
          <a:bodyPr/>
          <a:lstStyle/>
          <a:p>
            <a:r>
              <a:rPr lang="en-US" sz="4800" dirty="0">
                <a:hlinkClick r:id="rId2"/>
              </a:rPr>
              <a:t>https://aka.ms/techxchange-msft</a:t>
            </a:r>
            <a:endParaRPr lang="en-US" sz="4800" dirty="0"/>
          </a:p>
          <a:p>
            <a:r>
              <a:rPr lang="en-US" sz="4800" dirty="0">
                <a:hlinkClick r:id="rId3"/>
              </a:rPr>
              <a:t>https://aka.ms/sneaky-goggles</a:t>
            </a:r>
            <a:r>
              <a:rPr lang="en-US" sz="4800" dirty="0"/>
              <a:t> </a:t>
            </a:r>
            <a:endParaRPr lang="en-DE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7C8FC-E535-1114-7836-5641C7F722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Ready, Set, GO!</a:t>
            </a:r>
            <a:endParaRPr lang="en-DE" dirty="0"/>
          </a:p>
        </p:txBody>
      </p:sp>
      <p:pic>
        <p:nvPicPr>
          <p:cNvPr id="2050" name="Picture 2" descr="Github Logo - Free social media icons">
            <a:extLst>
              <a:ext uri="{FF2B5EF4-FFF2-40B4-BE49-F238E27FC236}">
                <a16:creationId xmlns:a16="http://schemas.microsoft.com/office/drawing/2014/main" id="{9B43B401-16DC-F686-8AD2-4338E2C13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28" y="2016952"/>
            <a:ext cx="569843" cy="56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EED5F5-EC46-5EFF-4CAC-1B7B010B7144}"/>
              </a:ext>
            </a:extLst>
          </p:cNvPr>
          <p:cNvSpPr txBox="1"/>
          <p:nvPr/>
        </p:nvSpPr>
        <p:spPr>
          <a:xfrm>
            <a:off x="330166" y="3272803"/>
            <a:ext cx="8547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👀</a:t>
            </a:r>
            <a:endParaRPr lang="en-DE" sz="4000" dirty="0"/>
          </a:p>
        </p:txBody>
      </p:sp>
    </p:spTree>
    <p:extLst>
      <p:ext uri="{BB962C8B-B14F-4D97-AF65-F5344CB8AC3E}">
        <p14:creationId xmlns:p14="http://schemas.microsoft.com/office/powerpoint/2010/main" val="22819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CF82-58CE-04FC-B810-03839F200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9" y="152400"/>
            <a:ext cx="11278898" cy="685800"/>
          </a:xfrm>
        </p:spPr>
        <p:txBody>
          <a:bodyPr/>
          <a:lstStyle/>
          <a:p>
            <a:r>
              <a:rPr lang="de-DE" cap="none" dirty="0">
                <a:solidFill>
                  <a:schemeClr val="bg1"/>
                </a:solidFill>
              </a:rPr>
              <a:t>Roadmap-Wünsche, Feedback und Projekt-Ideen gerne im Gespräch direkt an uns. Link bleibt 30 Tage offen.</a:t>
            </a:r>
            <a:endParaRPr lang="en-DE" cap="none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24854-82E8-5FA6-70F4-B05E56483A67}"/>
              </a:ext>
            </a:extLst>
          </p:cNvPr>
          <p:cNvSpPr txBox="1"/>
          <p:nvPr/>
        </p:nvSpPr>
        <p:spPr>
          <a:xfrm>
            <a:off x="4068618" y="2955637"/>
            <a:ext cx="4054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>
                <a:hlinkClick r:id="rId2"/>
              </a:rPr>
              <a:t>📬martin.pankraz@microsoft.com</a:t>
            </a:r>
            <a:endParaRPr lang="de-DE" dirty="0"/>
          </a:p>
          <a:p>
            <a:pPr algn="l"/>
            <a:r>
              <a:rPr lang="de-DE" dirty="0">
                <a:hlinkClick r:id="rId3"/>
              </a:rPr>
              <a:t>📬holger.bruchelt@microsoft.com</a:t>
            </a:r>
            <a:endParaRPr lang="de-DE" dirty="0"/>
          </a:p>
          <a:p>
            <a:pPr algn="l"/>
            <a:r>
              <a:rPr lang="de-DE" dirty="0">
                <a:hlinkClick r:id="rId4"/>
              </a:rPr>
              <a:t>📬martin.raepple@microsoft.com</a:t>
            </a:r>
            <a:endParaRPr lang="de-DE" dirty="0"/>
          </a:p>
          <a:p>
            <a:pPr algn="l"/>
            <a:endParaRPr lang="de-DE" dirty="0"/>
          </a:p>
          <a:p>
            <a:pPr algn="l"/>
            <a:endParaRPr lang="de-DE" dirty="0"/>
          </a:p>
          <a:p>
            <a:pPr algn="l"/>
            <a:r>
              <a:rPr lang="de-DE" dirty="0"/>
              <a:t>      </a:t>
            </a:r>
            <a:r>
              <a:rPr lang="de-DE" sz="1200" dirty="0">
                <a:hlinkClick r:id="rId5"/>
              </a:rPr>
              <a:t>https://www.linkedin.com/in/martin-pankraz/</a:t>
            </a:r>
            <a:endParaRPr lang="de-DE" sz="1200" dirty="0"/>
          </a:p>
          <a:p>
            <a:pPr algn="l"/>
            <a:r>
              <a:rPr lang="de-DE" sz="1200" dirty="0"/>
              <a:t>        </a:t>
            </a:r>
            <a:r>
              <a:rPr lang="de-DE" sz="1200" dirty="0">
                <a:hlinkClick r:id="rId6"/>
              </a:rPr>
              <a:t>https://www.linkedin.com/in/holger-bruchelt/</a:t>
            </a:r>
            <a:r>
              <a:rPr lang="de-DE" sz="1200" dirty="0"/>
              <a:t> </a:t>
            </a:r>
            <a:endParaRPr lang="en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D5C6A7-1F45-DDDF-845D-83DBC134E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909" y="4338838"/>
            <a:ext cx="257436" cy="2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32258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SAG-Technologietage 2024">
  <a:themeElements>
    <a:clrScheme name="Benutzerdefiniert 10">
      <a:dk1>
        <a:srgbClr val="4C4C4C"/>
      </a:dk1>
      <a:lt1>
        <a:srgbClr val="FFFFFF"/>
      </a:lt1>
      <a:dk2>
        <a:srgbClr val="FFFFFF"/>
      </a:dk2>
      <a:lt2>
        <a:srgbClr val="B2B2B2"/>
      </a:lt2>
      <a:accent1>
        <a:srgbClr val="00475B"/>
      </a:accent1>
      <a:accent2>
        <a:srgbClr val="EB5C3F"/>
      </a:accent2>
      <a:accent3>
        <a:srgbClr val="00B3C4"/>
      </a:accent3>
      <a:accent4>
        <a:srgbClr val="121B46"/>
      </a:accent4>
      <a:accent5>
        <a:srgbClr val="2BAC66"/>
      </a:accent5>
      <a:accent6>
        <a:srgbClr val="01324C"/>
      </a:accent6>
      <a:hlink>
        <a:srgbClr val="6679D8"/>
      </a:hlink>
      <a:folHlink>
        <a:srgbClr val="00B3C4"/>
      </a:folHlink>
    </a:clrScheme>
    <a:fontScheme name="DSAG-Jahreskongress 200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C9E9"/>
        </a:solidFill>
        <a:ln w="9525">
          <a:solidFill>
            <a:schemeClr val="accent1"/>
          </a:solidFill>
        </a:ln>
      </a:spPr>
      <a:bodyPr rtlCol="0" anchor="ctr"/>
      <a:lstStyle>
        <a:defPPr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SAG-Jahreskongress 20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G-Jahreskongress 20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7921"/>
        </a:accent1>
        <a:accent2>
          <a:srgbClr val="5D1915"/>
        </a:accent2>
        <a:accent3>
          <a:srgbClr val="FFFFFF"/>
        </a:accent3>
        <a:accent4>
          <a:srgbClr val="000000"/>
        </a:accent4>
        <a:accent5>
          <a:srgbClr val="EBBEAB"/>
        </a:accent5>
        <a:accent6>
          <a:srgbClr val="531612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669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A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7022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273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7BC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690C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3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BCD3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4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CD3AB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5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A5E87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EB6C3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AG-JK-2018 Template_final.potx" id="{9F54080D-7973-41C8-8A07-123A2FDAD6C4}" vid="{EBFDDD2A-1193-4788-B583-CD36A00DE47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1401E68100AF4E92CE105866F279B9" ma:contentTypeVersion="17" ma:contentTypeDescription="Ein neues Dokument erstellen." ma:contentTypeScope="" ma:versionID="f11889610d1daed83db45aa70d0d8d97">
  <xsd:schema xmlns:xsd="http://www.w3.org/2001/XMLSchema" xmlns:xs="http://www.w3.org/2001/XMLSchema" xmlns:p="http://schemas.microsoft.com/office/2006/metadata/properties" xmlns:ns2="5ee26d32-4b9a-4442-a06d-1b3b9fef35d2" xmlns:ns3="94085d37-dc5b-4c58-a313-508c2321ad0a" targetNamespace="http://schemas.microsoft.com/office/2006/metadata/properties" ma:root="true" ma:fieldsID="4da0b80672b6042a622693bb24c0d3e5" ns2:_="" ns3:_="">
    <xsd:import namespace="5ee26d32-4b9a-4442-a06d-1b3b9fef35d2"/>
    <xsd:import namespace="94085d37-dc5b-4c58-a313-508c2321a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26d32-4b9a-4442-a06d-1b3b9fef3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b53bab62-43ea-43ac-8274-592983e83c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85d37-dc5b-4c58-a313-508c2321ad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d4f28ee-678e-4063-b5c2-75c5bcbd93c6}" ma:internalName="TaxCatchAll" ma:showField="CatchAllData" ma:web="94085d37-dc5b-4c58-a313-508c2321a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BCE5A0-CA56-4FFF-B7CE-43702DD29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e26d32-4b9a-4442-a06d-1b3b9fef35d2"/>
    <ds:schemaRef ds:uri="94085d37-dc5b-4c58-a313-508c2321a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CDB246-45C3-4259-B61B-34E9ED2A84C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264</Words>
  <Application>Microsoft Office PowerPoint</Application>
  <PresentationFormat>Widescreen</PresentationFormat>
  <Paragraphs>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Arial Black</vt:lpstr>
      <vt:lpstr>Calibri</vt:lpstr>
      <vt:lpstr>Segoe Sans Text Semibold</vt:lpstr>
      <vt:lpstr>Segoe UI</vt:lpstr>
      <vt:lpstr>Segoe UI Semibold</vt:lpstr>
      <vt:lpstr>Symbol</vt:lpstr>
      <vt:lpstr>Wingdings</vt:lpstr>
      <vt:lpstr>DSAG-Technologietage 2024</vt:lpstr>
      <vt:lpstr>TechXChange 2026 – Microsoft Track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Christina Jäger</dc:creator>
  <cp:lastModifiedBy>Holger Bruchelt</cp:lastModifiedBy>
  <cp:revision>268</cp:revision>
  <dcterms:created xsi:type="dcterms:W3CDTF">2018-07-31T15:04:08Z</dcterms:created>
  <dcterms:modified xsi:type="dcterms:W3CDTF">2026-03-16T07:27:48Z</dcterms:modified>
</cp:coreProperties>
</file>